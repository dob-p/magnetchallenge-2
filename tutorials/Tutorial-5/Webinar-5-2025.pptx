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535" r:id="rId6"/>
    <p:sldId id="640" r:id="rId7"/>
    <p:sldId id="713" r:id="rId8"/>
    <p:sldId id="711" r:id="rId9"/>
    <p:sldId id="509" r:id="rId10"/>
    <p:sldId id="714" r:id="rId11"/>
    <p:sldId id="715" r:id="rId12"/>
    <p:sldId id="709" r:id="rId13"/>
  </p:sldIdLst>
  <p:sldSz cx="9144000" cy="6858000" type="screen4x3"/>
  <p:notesSz cx="9296400" cy="6858000"/>
  <p:custDataLst>
    <p:tags r:id="rId1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ia M Tomaszewski" initials="AMT" lastIdx="1" clrIdx="0">
    <p:extLst>
      <p:ext uri="{19B8F6BF-5375-455C-9EA6-DF929625EA0E}">
        <p15:presenceInfo xmlns:p15="http://schemas.microsoft.com/office/powerpoint/2012/main" userId="Alicia M Tomaszewsk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4C5E"/>
    <a:srgbClr val="EFAC44"/>
    <a:srgbClr val="E46C0A"/>
    <a:srgbClr val="00A73E"/>
    <a:srgbClr val="3E59C9"/>
    <a:srgbClr val="2D6B2B"/>
    <a:srgbClr val="FFFFFF"/>
    <a:srgbClr val="8446CB"/>
    <a:srgbClr val="000000"/>
    <a:srgbClr val="F9E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86410" autoAdjust="0"/>
  </p:normalViewPr>
  <p:slideViewPr>
    <p:cSldViewPr snapToGrid="0">
      <p:cViewPr varScale="1">
        <p:scale>
          <a:sx n="95" d="100"/>
          <a:sy n="95" d="100"/>
        </p:scale>
        <p:origin x="17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-1056" y="-82"/>
      </p:cViewPr>
      <p:guideLst>
        <p:guide orient="horz" pos="2160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7" Type="http://schemas.openxmlformats.org/officeDocument/2006/relationships/slide" Target="slides/slide9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738" y="0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fld id="{2B24FF04-CDCE-4B2A-A9F3-086764E0B2E7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738" y="6513513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fld id="{0D7B1DB6-D57A-48F5-8043-D9235B9BC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749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fld id="{9574B395-5126-4FEC-A685-13B85F5C3D87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337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257550"/>
            <a:ext cx="7435850" cy="30861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513513"/>
            <a:ext cx="4029075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112" charset="-128"/>
              </a:defRPr>
            </a:lvl1pPr>
          </a:lstStyle>
          <a:p>
            <a:pPr>
              <a:defRPr/>
            </a:pPr>
            <a:fld id="{F60F154B-B1EE-4D23-913A-656A9ABAA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613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ＭＳ Ｐゴシック" pitchFamily="-112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56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083B-62A6-B22B-4F99-C17A0B45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133D-DB81-8B3C-820E-19A939958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CAA89-573B-3D73-4C2F-3CD7F917D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27A9-9345-47F9-1637-E9EDA1433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3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026A-0975-46D4-8C23-D0E48AD8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C62C-4F9B-8B40-F2E8-AD0D3B6CC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EB41-4ED8-24FC-3D3A-521288CF3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FEEEE-55B7-B06F-6F14-712B11D47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4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47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Termplate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0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A05A-5121-1D24-E45C-F7EB188F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34A49-9AB4-1FDE-8F76-20E2AEFE6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F1A81-D50A-8A41-F4A6-B3673AEA9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long as they submit, we accept.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FB4A1-5973-31C1-A5D8-6D905AAAA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0F154B-B1EE-4D23-913A-656A9ABAABB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6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els tag horz.tif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035" y="5847589"/>
            <a:ext cx="2041407" cy="813561"/>
          </a:xfrm>
          <a:prstGeom prst="rect">
            <a:avLst/>
          </a:prstGeom>
        </p:spPr>
      </p:pic>
      <p:pic>
        <p:nvPicPr>
          <p:cNvPr id="4" name="Picture 6" descr="IEEE_TAG_BLU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6019800"/>
            <a:ext cx="114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20094" y="822325"/>
            <a:ext cx="7315200" cy="2006936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96281" y="3919368"/>
            <a:ext cx="7315200" cy="20116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2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reeform 5"/>
          <p:cNvSpPr/>
          <p:nvPr userDrawn="1"/>
        </p:nvSpPr>
        <p:spPr bwMode="auto">
          <a:xfrm>
            <a:off x="0" y="0"/>
            <a:ext cx="8488680" cy="274320"/>
          </a:xfrm>
          <a:custGeom>
            <a:avLst/>
            <a:gdLst>
              <a:gd name="connsiteX0" fmla="*/ 0 w 8488680"/>
              <a:gd name="connsiteY0" fmla="*/ 274320 h 274320"/>
              <a:gd name="connsiteX1" fmla="*/ 8001000 w 8488680"/>
              <a:gd name="connsiteY1" fmla="*/ 274320 h 274320"/>
              <a:gd name="connsiteX2" fmla="*/ 8488680 w 8488680"/>
              <a:gd name="connsiteY2" fmla="*/ 0 h 274320"/>
              <a:gd name="connsiteX3" fmla="*/ 0 w 8488680"/>
              <a:gd name="connsiteY3" fmla="*/ 0 h 274320"/>
              <a:gd name="connsiteX4" fmla="*/ 0 w 8488680"/>
              <a:gd name="connsiteY4" fmla="*/ 27432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8680" h="274320">
                <a:moveTo>
                  <a:pt x="0" y="274320"/>
                </a:moveTo>
                <a:lnTo>
                  <a:pt x="8001000" y="274320"/>
                </a:lnTo>
                <a:lnTo>
                  <a:pt x="8488680" y="0"/>
                </a:lnTo>
                <a:lnTo>
                  <a:pt x="0" y="0"/>
                </a:lnTo>
                <a:lnTo>
                  <a:pt x="0" y="274320"/>
                </a:lnTo>
                <a:close/>
              </a:path>
            </a:pathLst>
          </a:cu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134"/>
            <a:ext cx="8229600" cy="45720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SzPct val="100000"/>
              <a:buFont typeface="Wingdings" panose="05000000000000000000" pitchFamily="2" charset="2"/>
              <a:buChar char="§"/>
              <a:defRPr>
                <a:latin typeface="+mj-lt"/>
                <a:cs typeface="Arial" panose="020B0604020202020204" pitchFamily="34" charset="0"/>
              </a:defRPr>
            </a:lvl1pPr>
            <a:lvl2pPr>
              <a:buClrTx/>
              <a:defRPr sz="2400">
                <a:latin typeface="+mj-lt"/>
                <a:cs typeface="Arial" panose="020B0604020202020204" pitchFamily="34" charset="0"/>
              </a:defRPr>
            </a:lvl2pPr>
            <a:lvl3pPr>
              <a:buClr>
                <a:schemeClr val="tx1"/>
              </a:buClr>
              <a:defRPr>
                <a:latin typeface="+mj-lt"/>
                <a:cs typeface="Arial" panose="020B0604020202020204" pitchFamily="34" charset="0"/>
              </a:defRPr>
            </a:lvl3pPr>
            <a:lvl4pPr marL="1600200" indent="-228600">
              <a:buClrTx/>
              <a:buFont typeface="Wingdings" panose="05000000000000000000" pitchFamily="2" charset="2"/>
              <a:buChar char="§"/>
              <a:defRPr>
                <a:latin typeface="+mj-lt"/>
                <a:cs typeface="Arial" panose="020B0604020202020204" pitchFamily="34" charset="0"/>
              </a:defRPr>
            </a:lvl4pPr>
            <a:lvl5pPr>
              <a:buClrTx/>
              <a:defRPr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4362"/>
            <a:ext cx="8229600" cy="914400"/>
          </a:xfrm>
        </p:spPr>
        <p:txBody>
          <a:bodyPr/>
          <a:lstStyle>
            <a:lvl1pPr>
              <a:defRPr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458200" y="6593982"/>
            <a:ext cx="685800" cy="264017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4325"/>
            <a:ext cx="82296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486" y="1957842"/>
            <a:ext cx="4038600" cy="4572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5088"/>
            <a:ext cx="4038600" cy="4572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7279640" y="6172200"/>
            <a:ext cx="685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6A5D52B-A4A9-41C9-91D4-45921BD81E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1496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126" name="Picture 7" descr="IEEE_TAG_BLU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082280" y="5970078"/>
            <a:ext cx="9144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pels tag horz.tif"/>
          <p:cNvPicPr>
            <a:picLocks noChangeAspect="1"/>
          </p:cNvPicPr>
          <p:nvPr/>
        </p:nvPicPr>
        <p:blipFill>
          <a:blip r:embed="rId7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441" y="5852160"/>
            <a:ext cx="1582518" cy="630681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 bwMode="auto">
          <a:xfrm>
            <a:off x="-7620" y="6530340"/>
            <a:ext cx="9151620" cy="335280"/>
          </a:xfrm>
          <a:custGeom>
            <a:avLst/>
            <a:gdLst>
              <a:gd name="connsiteX0" fmla="*/ 0 w 9144000"/>
              <a:gd name="connsiteY0" fmla="*/ 335280 h 335280"/>
              <a:gd name="connsiteX1" fmla="*/ 144780 w 9144000"/>
              <a:gd name="connsiteY1" fmla="*/ 335280 h 335280"/>
              <a:gd name="connsiteX2" fmla="*/ 571500 w 9144000"/>
              <a:gd name="connsiteY2" fmla="*/ 76200 h 335280"/>
              <a:gd name="connsiteX3" fmla="*/ 9144000 w 9144000"/>
              <a:gd name="connsiteY3" fmla="*/ 76200 h 335280"/>
              <a:gd name="connsiteX4" fmla="*/ 9144000 w 9144000"/>
              <a:gd name="connsiteY4" fmla="*/ 0 h 335280"/>
              <a:gd name="connsiteX5" fmla="*/ 556260 w 9144000"/>
              <a:gd name="connsiteY5" fmla="*/ 0 h 335280"/>
              <a:gd name="connsiteX6" fmla="*/ 0 w 9144000"/>
              <a:gd name="connsiteY6" fmla="*/ 335280 h 335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335280">
                <a:moveTo>
                  <a:pt x="0" y="335280"/>
                </a:moveTo>
                <a:lnTo>
                  <a:pt x="144780" y="335280"/>
                </a:lnTo>
                <a:lnTo>
                  <a:pt x="571500" y="76200"/>
                </a:lnTo>
                <a:lnTo>
                  <a:pt x="9144000" y="76200"/>
                </a:lnTo>
                <a:lnTo>
                  <a:pt x="9144000" y="0"/>
                </a:lnTo>
                <a:lnTo>
                  <a:pt x="556260" y="0"/>
                </a:lnTo>
                <a:lnTo>
                  <a:pt x="0" y="335280"/>
                </a:lnTo>
                <a:close/>
              </a:path>
            </a:pathLst>
          </a:cu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4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458200" y="6593983"/>
            <a:ext cx="685800" cy="250720"/>
          </a:xfrm>
          <a:prstGeom prst="rect">
            <a:avLst/>
          </a:prstGeom>
        </p:spPr>
        <p:txBody>
          <a:bodyPr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57200" y="1342864"/>
            <a:ext cx="8229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95" r:id="rId1"/>
    <p:sldLayoutId id="2147485284" r:id="rId2"/>
    <p:sldLayoutId id="2147485297" r:id="rId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-112" charset="0"/>
          <a:ea typeface="ＭＳ Ｐゴシック" pitchFamily="28" charset="-128"/>
          <a:cs typeface="ＭＳ Ｐゴシック" pitchFamily="2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-112" charset="0"/>
          <a:ea typeface="ＭＳ Ｐゴシック" pitchFamily="28" charset="-128"/>
          <a:cs typeface="ＭＳ Ｐゴシック" pitchFamily="2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-112" charset="0"/>
          <a:ea typeface="ＭＳ Ｐゴシック" pitchFamily="28" charset="-128"/>
          <a:cs typeface="ＭＳ Ｐゴシック" pitchFamily="2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Verdana" pitchFamily="-112" charset="0"/>
          <a:ea typeface="ＭＳ Ｐゴシック" pitchFamily="28" charset="-128"/>
          <a:cs typeface="ＭＳ Ｐゴシック" pitchFamily="2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28" charset="0"/>
          <a:ea typeface="ＭＳ Ｐゴシック" pitchFamily="28" charset="-128"/>
          <a:cs typeface="ＭＳ Ｐゴシック" pitchFamily="28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28" charset="0"/>
          <a:ea typeface="ＭＳ Ｐゴシック" pitchFamily="28" charset="-128"/>
          <a:cs typeface="ＭＳ Ｐゴシック" pitchFamily="28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28" charset="0"/>
          <a:ea typeface="ＭＳ Ｐゴシック" pitchFamily="28" charset="-128"/>
          <a:cs typeface="ＭＳ Ｐゴシック" pitchFamily="28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itchFamily="28" charset="0"/>
          <a:ea typeface="ＭＳ Ｐゴシック" pitchFamily="28" charset="-128"/>
          <a:cs typeface="ＭＳ Ｐゴシック" pitchFamily="28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Tx/>
        <a:buSzPct val="100000"/>
        <a:buFont typeface="Wingdings" panose="05000000000000000000" pitchFamily="2" charset="2"/>
        <a:buChar char="§"/>
        <a:defRPr sz="26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Tx/>
        <a:buFont typeface="Symbol" panose="05050102010706020507" pitchFamily="18" charset="2"/>
        <a:buChar char=""/>
        <a:defRPr sz="24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Tx/>
        <a:buFont typeface="Wingdings" pitchFamily="2" charset="2"/>
        <a:buChar char="§"/>
        <a:defRPr sz="22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595959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8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8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8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8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njiechen/magnetchallenge-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mailto:pelsmagnet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minjiechen/magnetchallenge-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7396" y="608004"/>
            <a:ext cx="7947498" cy="3097043"/>
          </a:xfrm>
        </p:spPr>
        <p:txBody>
          <a:bodyPr>
            <a:noAutofit/>
          </a:bodyPr>
          <a:lstStyle/>
          <a:p>
            <a:pPr algn="ctr"/>
            <a:r>
              <a:rPr lang="en-US" sz="2000" dirty="0">
                <a:latin typeface="+mj-lt"/>
              </a:rPr>
              <a:t>2</a:t>
            </a:r>
            <a:r>
              <a:rPr lang="en-US" sz="2000" baseline="30000" dirty="0">
                <a:latin typeface="+mj-lt"/>
              </a:rPr>
              <a:t>nd</a:t>
            </a:r>
            <a:r>
              <a:rPr lang="en-US" sz="2000" dirty="0">
                <a:latin typeface="+mj-lt"/>
              </a:rPr>
              <a:t> IEEE International Challenge in Design Methods for Power Electronics</a:t>
            </a:r>
            <a:br>
              <a:rPr lang="en-US" sz="2400" dirty="0">
                <a:latin typeface="+mj-lt"/>
              </a:rPr>
            </a:br>
            <a:br>
              <a:rPr lang="en-US" sz="2400" dirty="0">
                <a:latin typeface="+mj-lt"/>
              </a:rPr>
            </a:br>
            <a:r>
              <a:rPr lang="en-US" sz="2800" dirty="0">
                <a:latin typeface="+mj-lt"/>
              </a:rPr>
              <a:t>2025 IEEE Power Electronics Society</a:t>
            </a:r>
            <a:br>
              <a:rPr lang="en-US" sz="2800" dirty="0">
                <a:latin typeface="+mj-lt"/>
              </a:rPr>
            </a:br>
            <a:br>
              <a:rPr lang="en-US" sz="2800" dirty="0">
                <a:latin typeface="+mj-lt"/>
              </a:rPr>
            </a:br>
            <a:r>
              <a:rPr lang="en-US" sz="4000" dirty="0">
                <a:latin typeface="+mj-lt"/>
              </a:rPr>
              <a:t>MagNet </a:t>
            </a:r>
            <a:r>
              <a:rPr lang="en-US" altLang="zh-CN" sz="4000" dirty="0">
                <a:latin typeface="+mj-lt"/>
              </a:rPr>
              <a:t>Challenge</a:t>
            </a:r>
            <a:r>
              <a:rPr lang="en-US" sz="4000" dirty="0">
                <a:latin typeface="+mj-lt"/>
              </a:rPr>
              <a:t> 2</a:t>
            </a:r>
            <a:br>
              <a:rPr lang="en-US" sz="4000" dirty="0">
                <a:latin typeface="+mj-lt"/>
              </a:rPr>
            </a:br>
            <a:br>
              <a:rPr lang="en-US" sz="2000" dirty="0">
                <a:latin typeface="+mj-lt"/>
              </a:rPr>
            </a:br>
            <a:r>
              <a:rPr lang="en-US" sz="20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sz="2000" i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sz="20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rom Steady-State to Transient Models!”</a:t>
            </a:r>
            <a:b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br>
              <a:rPr lang="en-US" sz="3200" dirty="0">
                <a:latin typeface="+mj-lt"/>
              </a:rPr>
            </a:br>
            <a:br>
              <a:rPr lang="en-US" sz="2400" dirty="0">
                <a:latin typeface="+mj-lt"/>
              </a:rPr>
            </a:br>
            <a:endParaRPr lang="en-US" sz="2400" dirty="0">
              <a:latin typeface="+mj-lt"/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598251" y="3754339"/>
            <a:ext cx="7947497" cy="2011680"/>
          </a:xfrm>
        </p:spPr>
        <p:txBody>
          <a:bodyPr>
            <a:normAutofit/>
          </a:bodyPr>
          <a:lstStyle/>
          <a:p>
            <a:pPr algn="ctr"/>
            <a:r>
              <a:rPr lang="en-CA" sz="1600" dirty="0">
                <a:latin typeface="+mj-lt"/>
              </a:rPr>
              <a:t>Tutorial Session 5, Sept. </a:t>
            </a:r>
            <a:r>
              <a:rPr lang="en-CA" sz="1600" dirty="0"/>
              <a:t>12</a:t>
            </a:r>
            <a:r>
              <a:rPr lang="en-CA" sz="1600" baseline="30000" dirty="0"/>
              <a:t>th</a:t>
            </a:r>
            <a:r>
              <a:rPr lang="en-CA" sz="1600" dirty="0">
                <a:latin typeface="+mj-lt"/>
              </a:rPr>
              <a:t>, 2025</a:t>
            </a:r>
            <a:endParaRPr lang="en-US" sz="1600" dirty="0">
              <a:latin typeface="+mj-lt"/>
            </a:endParaRP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600" dirty="0"/>
              <a:t>Shukai Wang, </a:t>
            </a:r>
            <a:r>
              <a:rPr lang="en-US" sz="1600" dirty="0" err="1">
                <a:latin typeface="+mj-lt"/>
              </a:rPr>
              <a:t>Hyukjae</a:t>
            </a:r>
            <a:r>
              <a:rPr lang="en-US" sz="1600" dirty="0">
                <a:latin typeface="+mj-lt"/>
              </a:rPr>
              <a:t> Kwon, Haoran Li, Thomas </a:t>
            </a:r>
            <a:r>
              <a:rPr lang="en-US" sz="1600" dirty="0" err="1">
                <a:latin typeface="+mj-lt"/>
              </a:rPr>
              <a:t>Guillod</a:t>
            </a:r>
            <a:r>
              <a:rPr lang="en-US" sz="1600" dirty="0">
                <a:latin typeface="+mj-lt"/>
              </a:rPr>
              <a:t>, </a:t>
            </a:r>
            <a:endParaRPr lang="en-US" sz="1200" dirty="0">
              <a:latin typeface="+mj-lt"/>
            </a:endParaRPr>
          </a:p>
          <a:p>
            <a:pPr algn="ctr"/>
            <a:r>
              <a:rPr lang="en-US" sz="1600" dirty="0">
                <a:latin typeface="+mj-lt"/>
              </a:rPr>
              <a:t>Minjie Chen, Charles R. Sullivan</a:t>
            </a:r>
          </a:p>
          <a:p>
            <a:pPr algn="ctr"/>
            <a:endParaRPr lang="en-US" sz="1600" dirty="0">
              <a:latin typeface="+mj-lt"/>
            </a:endParaRPr>
          </a:p>
          <a:p>
            <a:pPr algn="ctr"/>
            <a:r>
              <a:rPr lang="en-US" sz="1200" dirty="0">
                <a:latin typeface="+mj-lt"/>
              </a:rPr>
              <a:t>GitHub Repository: </a:t>
            </a:r>
            <a:r>
              <a:rPr lang="en-US" sz="1200" dirty="0">
                <a:latin typeface="+mj-lt"/>
                <a:hlinkClick r:id="rId3"/>
              </a:rPr>
              <a:t>https://github.com/minjiechen/magnetchallenge-2</a:t>
            </a:r>
            <a:r>
              <a:rPr lang="en-US" sz="1200" dirty="0">
                <a:latin typeface="+mj-lt"/>
              </a:rPr>
              <a:t> </a:t>
            </a:r>
          </a:p>
          <a:p>
            <a:pPr algn="ctr"/>
            <a:r>
              <a:rPr lang="en-US" sz="1200" dirty="0">
                <a:latin typeface="+mj-lt"/>
                <a:hlinkClick r:id="rId4"/>
              </a:rPr>
              <a:t>pelsmagnet@gmail.com</a:t>
            </a:r>
            <a:r>
              <a:rPr lang="en-US" sz="1200" dirty="0">
                <a:latin typeface="+mj-lt"/>
              </a:rPr>
              <a:t> </a:t>
            </a:r>
          </a:p>
          <a:p>
            <a:pPr algn="ctr"/>
            <a:r>
              <a:rPr lang="en-US" sz="1200" dirty="0">
                <a:latin typeface="+mj-lt"/>
              </a:rPr>
              <a:t>MagNet 2025 Organizing Team</a:t>
            </a:r>
          </a:p>
          <a:p>
            <a:pPr algn="ctr"/>
            <a:endParaRPr lang="en-US" sz="12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2587D-A937-EB51-B10F-97DDB39B4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387" y="5815312"/>
            <a:ext cx="3739515" cy="95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EB4EC4-D8BB-B405-37EE-AA547CC17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8" y="970252"/>
            <a:ext cx="8823203" cy="5472067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Webinar 1 – Data and Neural Network Methods</a:t>
            </a:r>
          </a:p>
          <a:p>
            <a:pPr lvl="1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May 16</a:t>
            </a:r>
            <a:r>
              <a:rPr lang="en-US" sz="1600" baseline="30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th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Friday, 9 AM EST</a:t>
            </a:r>
          </a:p>
          <a:p>
            <a:pPr lvl="1"/>
            <a:endParaRPr lang="en-US" sz="16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Webinar 2 – Analytical Methods (by Dr. Thomas </a:t>
            </a:r>
            <a:r>
              <a:rPr lang="en-US" sz="1800" b="1" dirty="0" err="1">
                <a:solidFill>
                  <a:schemeClr val="bg1">
                    <a:lumMod val="75000"/>
                  </a:schemeClr>
                </a:solidFill>
                <a:latin typeface="+mj-lt"/>
              </a:rPr>
              <a:t>Guillid</a:t>
            </a: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)</a:t>
            </a:r>
          </a:p>
          <a:p>
            <a:pPr lvl="1"/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May 23</a:t>
            </a:r>
            <a:r>
              <a:rPr lang="en-US" sz="1600" baseline="30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rd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, Friday, 9 AM EST</a:t>
            </a:r>
          </a:p>
          <a:p>
            <a:pPr lvl="1"/>
            <a:endParaRPr lang="en-US" sz="1600" dirty="0">
              <a:latin typeface="+mj-lt"/>
            </a:endParaRPr>
          </a:p>
          <a:p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Webinar 3 – Model Testing and Evaluation Rules</a:t>
            </a:r>
          </a:p>
          <a:p>
            <a:pPr lvl="1">
              <a:buSzPct val="100000"/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May 30th, Friday, 9 AM EST </a:t>
            </a:r>
          </a:p>
          <a:p>
            <a:pPr lvl="1">
              <a:buSzPct val="100000"/>
            </a:pPr>
            <a:endParaRPr lang="en-US" sz="1600" dirty="0">
              <a:latin typeface="+mj-lt"/>
            </a:endParaRPr>
          </a:p>
          <a:p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Webinar 4 – Brainstorm and Q&amp;A</a:t>
            </a:r>
            <a:endParaRPr lang="en-US" sz="1800" i="1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pPr lvl="1">
              <a:buSzPct val="100000"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June 6</a:t>
            </a:r>
            <a:r>
              <a:rPr lang="en-US" sz="1600" baseline="30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th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, Friday, 9 AM EST </a:t>
            </a:r>
          </a:p>
          <a:p>
            <a:endParaRPr lang="en-US" sz="18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  <a:p>
            <a:r>
              <a:rPr lang="en-US" sz="1800" b="1" dirty="0">
                <a:latin typeface="+mj-lt"/>
              </a:rPr>
              <a:t>Webinar 5 – Pre-Evaluation Rules </a:t>
            </a:r>
          </a:p>
          <a:p>
            <a:pPr lvl="1"/>
            <a:r>
              <a:rPr lang="en-US" sz="1600" dirty="0">
                <a:latin typeface="+mj-lt"/>
              </a:rPr>
              <a:t>Sept 12th, 10 AM EST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7ED2EC-CAB4-97E1-69C8-D248E481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4362"/>
            <a:ext cx="8229600" cy="458636"/>
          </a:xfrm>
        </p:spPr>
        <p:txBody>
          <a:bodyPr/>
          <a:lstStyle/>
          <a:p>
            <a:r>
              <a:rPr lang="en-US" dirty="0">
                <a:latin typeface="+mj-lt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EF532-B40F-5829-B880-9929EAB4F3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1026" name="Picture 2" descr="PELS Logo">
            <a:extLst>
              <a:ext uri="{FF2B5EF4-FFF2-40B4-BE49-F238E27FC236}">
                <a16:creationId xmlns:a16="http://schemas.microsoft.com/office/drawing/2014/main" id="{94EBEF53-7F75-C2DA-FCC5-0B8B25E0B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655" y="243680"/>
            <a:ext cx="3133946" cy="76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89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65956-C3AA-AB69-F262-457B76656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185C0AD-CF6B-92AE-D218-4E4B9CBF8EB6}"/>
              </a:ext>
            </a:extLst>
          </p:cNvPr>
          <p:cNvGrpSpPr/>
          <p:nvPr/>
        </p:nvGrpSpPr>
        <p:grpSpPr>
          <a:xfrm>
            <a:off x="575106" y="2261529"/>
            <a:ext cx="7758190" cy="3268361"/>
            <a:chOff x="1658560" y="2546821"/>
            <a:chExt cx="5634872" cy="2343215"/>
          </a:xfrm>
        </p:grpSpPr>
        <p:pic>
          <p:nvPicPr>
            <p:cNvPr id="6" name="Picture 5" descr="A blue line on a black background&#10;&#10;AI-generated content may be incorrect.">
              <a:extLst>
                <a:ext uri="{FF2B5EF4-FFF2-40B4-BE49-F238E27FC236}">
                  <a16:creationId xmlns:a16="http://schemas.microsoft.com/office/drawing/2014/main" id="{8F91C747-C829-0864-06B0-22DA3DDB1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58560" y="2546821"/>
              <a:ext cx="5634872" cy="2343215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56D348-DF6B-D91B-60FB-016FE9CBC337}"/>
                </a:ext>
              </a:extLst>
            </p:cNvPr>
            <p:cNvSpPr txBox="1"/>
            <p:nvPr/>
          </p:nvSpPr>
          <p:spPr>
            <a:xfrm>
              <a:off x="3512751" y="3718429"/>
              <a:ext cx="9380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3E59C9"/>
                  </a:solidFill>
                  <a:latin typeface="+mj-lt"/>
                </a:rPr>
                <a:t>Past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8901E3F-9A2E-576B-481B-C3905A376A57}"/>
                </a:ext>
              </a:extLst>
            </p:cNvPr>
            <p:cNvSpPr txBox="1"/>
            <p:nvPr/>
          </p:nvSpPr>
          <p:spPr>
            <a:xfrm>
              <a:off x="5866226" y="3256503"/>
              <a:ext cx="89479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rgbClr val="2D6B2B"/>
                  </a:solidFill>
                  <a:latin typeface="+mj-lt"/>
                </a:rPr>
                <a:t>Future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CFBA82-FFCF-D1B7-ED51-C3923FAE0CB3}"/>
                </a:ext>
              </a:extLst>
            </p:cNvPr>
            <p:cNvSpPr txBox="1"/>
            <p:nvPr/>
          </p:nvSpPr>
          <p:spPr>
            <a:xfrm>
              <a:off x="5866225" y="3984613"/>
              <a:ext cx="93166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b="1" dirty="0">
                  <a:solidFill>
                    <a:srgbClr val="EFAC44"/>
                  </a:solidFill>
                  <a:latin typeface="+mj-lt"/>
                </a:rPr>
                <a:t>Output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C41B19E1-E9D3-6EEC-9483-75C5FC6E7EE8}"/>
              </a:ext>
            </a:extLst>
          </p:cNvPr>
          <p:cNvSpPr txBox="1"/>
          <p:nvPr/>
        </p:nvSpPr>
        <p:spPr>
          <a:xfrm>
            <a:off x="6490698" y="3895710"/>
            <a:ext cx="1302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073F74E-EA46-E05D-DB8F-AF5AD50BF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14362"/>
            <a:ext cx="8394569" cy="523838"/>
          </a:xfrm>
        </p:spPr>
        <p:txBody>
          <a:bodyPr/>
          <a:lstStyle/>
          <a:p>
            <a:r>
              <a:rPr lang="en-US" dirty="0">
                <a:latin typeface="+mj-lt"/>
              </a:rPr>
              <a:t>Outcome: A Callable Prediction Function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C8C8C-7C5E-1580-56C4-26558A2DAF8F}"/>
              </a:ext>
            </a:extLst>
          </p:cNvPr>
          <p:cNvSpPr txBox="1"/>
          <p:nvPr/>
        </p:nvSpPr>
        <p:spPr>
          <a:xfrm>
            <a:off x="1800520" y="5876447"/>
            <a:ext cx="62499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latin typeface="+mj-lt"/>
              </a:rPr>
              <a:t>Hyukjae</a:t>
            </a:r>
            <a:r>
              <a:rPr lang="en-US" sz="1100" dirty="0">
                <a:latin typeface="+mj-lt"/>
              </a:rPr>
              <a:t> Kwon, Shukai Wang, Haoran Li, et al. “</a:t>
            </a:r>
            <a:r>
              <a:rPr lang="en-US" sz="1100" b="1" dirty="0" err="1">
                <a:latin typeface="+mj-lt"/>
              </a:rPr>
              <a:t>MagNetX</a:t>
            </a:r>
            <a:r>
              <a:rPr lang="en-US" sz="1100" b="1" dirty="0">
                <a:latin typeface="+mj-lt"/>
              </a:rPr>
              <a:t>: Extending the </a:t>
            </a:r>
            <a:r>
              <a:rPr lang="en-US" sz="1100" b="1" dirty="0" err="1">
                <a:latin typeface="+mj-lt"/>
              </a:rPr>
              <a:t>MagNet</a:t>
            </a:r>
            <a:r>
              <a:rPr lang="en-US" sz="1100" b="1" dirty="0">
                <a:latin typeface="+mj-lt"/>
              </a:rPr>
              <a:t> Database for Modeling Power Magnetics in Transient</a:t>
            </a:r>
            <a:r>
              <a:rPr lang="en-US" sz="1100" dirty="0">
                <a:latin typeface="+mj-lt"/>
              </a:rPr>
              <a:t>,” </a:t>
            </a:r>
            <a:r>
              <a:rPr lang="en-US" sz="1100" i="1" dirty="0" err="1">
                <a:latin typeface="+mj-lt"/>
              </a:rPr>
              <a:t>TechRxiv</a:t>
            </a:r>
            <a:r>
              <a:rPr lang="en-US" sz="1100" dirty="0">
                <a:latin typeface="+mj-lt"/>
              </a:rPr>
              <a:t>. December 11, 2024. </a:t>
            </a:r>
            <a:r>
              <a:rPr lang="en-US" sz="1100" b="0" i="0" dirty="0">
                <a:solidFill>
                  <a:srgbClr val="333333"/>
                </a:solidFill>
                <a:effectLst/>
                <a:latin typeface="+mj-lt"/>
              </a:rPr>
              <a:t>Accepted to </a:t>
            </a:r>
            <a:r>
              <a:rPr lang="en-US" sz="1100" dirty="0">
                <a:solidFill>
                  <a:srgbClr val="333333"/>
                </a:solidFill>
                <a:latin typeface="+mj-lt"/>
              </a:rPr>
              <a:t>APEC 2025.</a:t>
            </a:r>
            <a:endParaRPr lang="en-US" sz="11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2530DA-C41B-D43E-267B-9009D4DDF320}"/>
                  </a:ext>
                </a:extLst>
              </p:cNvPr>
              <p:cNvSpPr txBox="1"/>
              <p:nvPr/>
            </p:nvSpPr>
            <p:spPr>
              <a:xfrm>
                <a:off x="1100248" y="1354871"/>
                <a:ext cx="6943504" cy="626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𝑓𝑢𝑛𝑐𝑡𝑖𝑜𝑛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effectLst/>
                  <a:latin typeface="+mj-lt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2530DA-C41B-D43E-267B-9009D4DDF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248" y="1354871"/>
                <a:ext cx="6943504" cy="6262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B3DCFD7-E45C-6148-7326-37B70A3D8BB8}"/>
              </a:ext>
            </a:extLst>
          </p:cNvPr>
          <p:cNvSpPr txBox="1"/>
          <p:nvPr/>
        </p:nvSpPr>
        <p:spPr>
          <a:xfrm>
            <a:off x="4703483" y="1020262"/>
            <a:ext cx="6880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E59C9"/>
                </a:solidFill>
                <a:latin typeface="+mj-lt"/>
              </a:rPr>
              <a:t>Past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5F1F7E-1EDB-D5FA-6B62-9AB4B803848F}"/>
              </a:ext>
            </a:extLst>
          </p:cNvPr>
          <p:cNvSpPr txBox="1"/>
          <p:nvPr/>
        </p:nvSpPr>
        <p:spPr>
          <a:xfrm>
            <a:off x="6608497" y="1018275"/>
            <a:ext cx="941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D6B2B"/>
                </a:solidFill>
                <a:latin typeface="+mj-lt"/>
              </a:rPr>
              <a:t>Future</a:t>
            </a:r>
            <a:endParaRPr lang="en-US" sz="1500" b="1" dirty="0">
              <a:solidFill>
                <a:srgbClr val="2D6B2B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C41437-C757-052A-45F5-3461CD8F5C13}"/>
              </a:ext>
            </a:extLst>
          </p:cNvPr>
          <p:cNvSpPr txBox="1"/>
          <p:nvPr/>
        </p:nvSpPr>
        <p:spPr>
          <a:xfrm>
            <a:off x="1187420" y="99089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EFAC44"/>
                </a:solidFill>
                <a:latin typeface="+mj-lt"/>
              </a:rPr>
              <a:t>Output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C61D7F-FBB0-720C-FA99-CD25C8CEEC3D}"/>
              </a:ext>
            </a:extLst>
          </p:cNvPr>
          <p:cNvCxnSpPr>
            <a:cxnSpLocks/>
          </p:cNvCxnSpPr>
          <p:nvPr/>
        </p:nvCxnSpPr>
        <p:spPr>
          <a:xfrm flipH="1">
            <a:off x="4323343" y="1285186"/>
            <a:ext cx="408421" cy="128022"/>
          </a:xfrm>
          <a:prstGeom prst="straightConnector1">
            <a:avLst/>
          </a:prstGeom>
          <a:ln w="19050">
            <a:solidFill>
              <a:srgbClr val="3E59C9"/>
            </a:solidFill>
            <a:tailEnd type="triangle"/>
          </a:ln>
          <a:effectLst>
            <a:outerShdw blurRad="38100" dist="20320" dir="54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A28E72B-69A3-D132-7B9A-965D30CA4490}"/>
              </a:ext>
            </a:extLst>
          </p:cNvPr>
          <p:cNvCxnSpPr>
            <a:cxnSpLocks/>
          </p:cNvCxnSpPr>
          <p:nvPr/>
        </p:nvCxnSpPr>
        <p:spPr>
          <a:xfrm>
            <a:off x="5385404" y="1278933"/>
            <a:ext cx="438470" cy="128022"/>
          </a:xfrm>
          <a:prstGeom prst="straightConnector1">
            <a:avLst/>
          </a:prstGeom>
          <a:ln w="19050">
            <a:solidFill>
              <a:srgbClr val="3E59C9"/>
            </a:solidFill>
            <a:tailEnd type="triangle"/>
          </a:ln>
          <a:effectLst>
            <a:outerShdw blurRad="38100" dist="20320" dir="54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84D8A9-411E-CA46-2998-2D9FECA66BD4}"/>
              </a:ext>
            </a:extLst>
          </p:cNvPr>
          <p:cNvCxnSpPr>
            <a:cxnSpLocks/>
          </p:cNvCxnSpPr>
          <p:nvPr/>
        </p:nvCxnSpPr>
        <p:spPr>
          <a:xfrm>
            <a:off x="7050876" y="1313953"/>
            <a:ext cx="0" cy="131378"/>
          </a:xfrm>
          <a:prstGeom prst="straightConnector1">
            <a:avLst/>
          </a:prstGeom>
          <a:ln w="19050">
            <a:solidFill>
              <a:srgbClr val="2D6B2B"/>
            </a:solidFill>
            <a:tailEnd type="triangle"/>
          </a:ln>
          <a:effectLst>
            <a:outerShdw blurRad="38100" dist="20320" dir="54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7094FF2-356E-6B05-04AB-D9C3918EF2AE}"/>
              </a:ext>
            </a:extLst>
          </p:cNvPr>
          <p:cNvCxnSpPr>
            <a:cxnSpLocks/>
          </p:cNvCxnSpPr>
          <p:nvPr/>
        </p:nvCxnSpPr>
        <p:spPr>
          <a:xfrm>
            <a:off x="1687864" y="1329446"/>
            <a:ext cx="0" cy="131378"/>
          </a:xfrm>
          <a:prstGeom prst="straightConnector1">
            <a:avLst/>
          </a:prstGeom>
          <a:ln w="19050">
            <a:solidFill>
              <a:srgbClr val="EFAC44"/>
            </a:solidFill>
            <a:tailEnd type="triangle"/>
          </a:ln>
          <a:effectLst>
            <a:outerShdw blurRad="38100" dist="20320" dir="54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2A82020-E8CE-B89C-28C7-A435DC85925D}"/>
              </a:ext>
            </a:extLst>
          </p:cNvPr>
          <p:cNvSpPr txBox="1"/>
          <p:nvPr/>
        </p:nvSpPr>
        <p:spPr>
          <a:xfrm>
            <a:off x="2472488" y="1027422"/>
            <a:ext cx="148149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+mj-lt"/>
              </a:rPr>
              <a:t>Your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D031E8-E3A7-4ABF-4BD9-F90FB34D780E}"/>
              </a:ext>
            </a:extLst>
          </p:cNvPr>
          <p:cNvCxnSpPr>
            <a:cxnSpLocks/>
          </p:cNvCxnSpPr>
          <p:nvPr/>
        </p:nvCxnSpPr>
        <p:spPr>
          <a:xfrm>
            <a:off x="3148688" y="1371452"/>
            <a:ext cx="0" cy="13137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>
            <a:outerShdw blurRad="38100" dist="20320" dir="54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37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529C-2CDD-5CEF-FCFD-ECAB28B1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8942355-6378-4BD0-B6FE-D7A2C6B2FBB7}"/>
              </a:ext>
            </a:extLst>
          </p:cNvPr>
          <p:cNvSpPr/>
          <p:nvPr/>
        </p:nvSpPr>
        <p:spPr bwMode="auto">
          <a:xfrm>
            <a:off x="7112295" y="4629266"/>
            <a:ext cx="1606458" cy="127674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96F5F2-48AC-2D95-D16C-78292A10BA23}"/>
              </a:ext>
            </a:extLst>
          </p:cNvPr>
          <p:cNvSpPr/>
          <p:nvPr/>
        </p:nvSpPr>
        <p:spPr bwMode="auto">
          <a:xfrm>
            <a:off x="7089868" y="1592917"/>
            <a:ext cx="1606458" cy="20444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CF66B60-A148-F1BE-FB29-CC8C72D4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626" y="352069"/>
            <a:ext cx="8394569" cy="523838"/>
          </a:xfrm>
        </p:spPr>
        <p:txBody>
          <a:bodyPr/>
          <a:lstStyle/>
          <a:p>
            <a:r>
              <a:rPr lang="en-US" dirty="0"/>
              <a:t>Pre Evaluation Data Format</a:t>
            </a:r>
            <a:endParaRPr lang="en-US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A9EC3A-D31E-6799-2E0A-653A068A1211}"/>
                  </a:ext>
                </a:extLst>
              </p:cNvPr>
              <p:cNvSpPr txBox="1"/>
              <p:nvPr/>
            </p:nvSpPr>
            <p:spPr>
              <a:xfrm>
                <a:off x="309123" y="2237610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D182E7-B85C-14AF-B339-82C51DD87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3" y="2237610"/>
                <a:ext cx="6878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40EB7B-9A6A-98BF-0786-546153E650F2}"/>
                  </a:ext>
                </a:extLst>
              </p:cNvPr>
              <p:cNvSpPr txBox="1"/>
              <p:nvPr/>
            </p:nvSpPr>
            <p:spPr>
              <a:xfrm>
                <a:off x="309124" y="2783922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273BDD-7908-6B83-2486-9373E838A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4" y="2783922"/>
                <a:ext cx="6878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B73195E-F6A9-3FB6-99B3-AC2A28CE3165}"/>
              </a:ext>
            </a:extLst>
          </p:cNvPr>
          <p:cNvGraphicFramePr>
            <a:graphicFrameLocks noGrp="1"/>
          </p:cNvGraphicFramePr>
          <p:nvPr/>
        </p:nvGraphicFramePr>
        <p:xfrm>
          <a:off x="1018536" y="2332622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C90E5B7-12A7-CE93-8785-4DB5C552B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29887"/>
              </p:ext>
            </p:extLst>
          </p:nvPr>
        </p:nvGraphicFramePr>
        <p:xfrm>
          <a:off x="1018536" y="2860523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EBC94EA0-7544-2FC0-F522-C1BA8CF3F1FF}"/>
              </a:ext>
            </a:extLst>
          </p:cNvPr>
          <p:cNvSpPr/>
          <p:nvPr/>
        </p:nvSpPr>
        <p:spPr bwMode="auto">
          <a:xfrm>
            <a:off x="1201603" y="1264945"/>
            <a:ext cx="197553" cy="197553"/>
          </a:xfrm>
          <a:prstGeom prst="rect">
            <a:avLst/>
          </a:prstGeom>
          <a:solidFill>
            <a:srgbClr val="00A7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0A499B5-6E2C-B4CB-24D0-966F606C385B}"/>
              </a:ext>
            </a:extLst>
          </p:cNvPr>
          <p:cNvSpPr/>
          <p:nvPr/>
        </p:nvSpPr>
        <p:spPr bwMode="auto">
          <a:xfrm>
            <a:off x="3675159" y="1264945"/>
            <a:ext cx="197553" cy="197553"/>
          </a:xfrm>
          <a:prstGeom prst="rect">
            <a:avLst/>
          </a:prstGeom>
          <a:solidFill>
            <a:srgbClr val="EFAC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509333-3F6E-922E-CA6B-31C612118F33}"/>
              </a:ext>
            </a:extLst>
          </p:cNvPr>
          <p:cNvSpPr txBox="1"/>
          <p:nvPr/>
        </p:nvSpPr>
        <p:spPr>
          <a:xfrm>
            <a:off x="1399155" y="1225221"/>
            <a:ext cx="1899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Input (Known values)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862346-6592-C817-D8CF-B5A8CE604611}"/>
              </a:ext>
            </a:extLst>
          </p:cNvPr>
          <p:cNvSpPr txBox="1"/>
          <p:nvPr/>
        </p:nvSpPr>
        <p:spPr>
          <a:xfrm>
            <a:off x="3891761" y="1225221"/>
            <a:ext cx="2292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Output (Unknown values)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543A8D-E80A-9F78-3DF4-A6BA24397BB5}"/>
                  </a:ext>
                </a:extLst>
              </p:cNvPr>
              <p:cNvSpPr txBox="1"/>
              <p:nvPr/>
            </p:nvSpPr>
            <p:spPr>
              <a:xfrm>
                <a:off x="309123" y="3637379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6CE788-B0A0-76F8-9889-84496B73F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3" y="3637379"/>
                <a:ext cx="6878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0A9E39-1CD8-2046-84A3-F04C8D7150CB}"/>
                  </a:ext>
                </a:extLst>
              </p:cNvPr>
              <p:cNvSpPr txBox="1"/>
              <p:nvPr/>
            </p:nvSpPr>
            <p:spPr>
              <a:xfrm>
                <a:off x="309124" y="4183691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2F0E3B-5236-4B27-B54F-A8232FDE6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4" y="4183691"/>
                <a:ext cx="6878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2E8B9E-956C-DD1E-1D1B-6E4C52AC28FA}"/>
              </a:ext>
            </a:extLst>
          </p:cNvPr>
          <p:cNvGraphicFramePr>
            <a:graphicFrameLocks noGrp="1"/>
          </p:cNvGraphicFramePr>
          <p:nvPr/>
        </p:nvGraphicFramePr>
        <p:xfrm>
          <a:off x="1018536" y="3732391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CC9A18-03ED-7B58-12E2-C13A6AD0F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02750"/>
              </p:ext>
            </p:extLst>
          </p:nvPr>
        </p:nvGraphicFramePr>
        <p:xfrm>
          <a:off x="1018536" y="4260292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D200FD-5EEC-3169-CE47-A51772432ADB}"/>
                  </a:ext>
                </a:extLst>
              </p:cNvPr>
              <p:cNvSpPr txBox="1"/>
              <p:nvPr/>
            </p:nvSpPr>
            <p:spPr>
              <a:xfrm>
                <a:off x="309123" y="5037148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CB695B-0069-6899-FB0E-39B7510B5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3" y="5037148"/>
                <a:ext cx="6878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1A2588-350F-D252-26B0-D45EF53536AA}"/>
                  </a:ext>
                </a:extLst>
              </p:cNvPr>
              <p:cNvSpPr txBox="1"/>
              <p:nvPr/>
            </p:nvSpPr>
            <p:spPr>
              <a:xfrm>
                <a:off x="309124" y="5583460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863F59-96DF-CD2E-50E4-B6FB5270F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24" y="5583460"/>
                <a:ext cx="6878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175C4DF-FFE4-0C83-B357-ADA817BC0F7E}"/>
              </a:ext>
            </a:extLst>
          </p:cNvPr>
          <p:cNvGraphicFramePr>
            <a:graphicFrameLocks noGrp="1"/>
          </p:cNvGraphicFramePr>
          <p:nvPr/>
        </p:nvGraphicFramePr>
        <p:xfrm>
          <a:off x="1018536" y="5132160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5409029-8A71-307A-2BB0-43A3DC054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26191"/>
              </p:ext>
            </p:extLst>
          </p:nvPr>
        </p:nvGraphicFramePr>
        <p:xfrm>
          <a:off x="1018536" y="5660061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N-1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A95D39A-A999-EF14-4BC9-2B2463C59F2D}"/>
              </a:ext>
            </a:extLst>
          </p:cNvPr>
          <p:cNvSpPr txBox="1"/>
          <p:nvPr/>
        </p:nvSpPr>
        <p:spPr>
          <a:xfrm>
            <a:off x="6593265" y="3732391"/>
            <a:ext cx="2241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&gt; 4500 total segments per material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D50315B-080B-31D9-877D-87E2EC779CC8}"/>
              </a:ext>
            </a:extLst>
          </p:cNvPr>
          <p:cNvSpPr/>
          <p:nvPr/>
        </p:nvSpPr>
        <p:spPr bwMode="auto">
          <a:xfrm>
            <a:off x="6736181" y="2350527"/>
            <a:ext cx="166208" cy="3534778"/>
          </a:xfrm>
          <a:prstGeom prst="rightBrace">
            <a:avLst>
              <a:gd name="adj1" fmla="val 111994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00B4CB29-CEF7-46DA-CED2-D670A1B26DCF}"/>
              </a:ext>
            </a:extLst>
          </p:cNvPr>
          <p:cNvSpPr/>
          <p:nvPr/>
        </p:nvSpPr>
        <p:spPr bwMode="auto">
          <a:xfrm rot="5400000" flipV="1">
            <a:off x="3899919" y="1164853"/>
            <a:ext cx="204119" cy="4243021"/>
          </a:xfrm>
          <a:prstGeom prst="rightBrace">
            <a:avLst>
              <a:gd name="adj1" fmla="val 111994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109E3802-D7A2-6ECA-054F-2FEEB48AB304}"/>
              </a:ext>
            </a:extLst>
          </p:cNvPr>
          <p:cNvSpPr/>
          <p:nvPr/>
        </p:nvSpPr>
        <p:spPr bwMode="auto">
          <a:xfrm rot="5400000" flipV="1">
            <a:off x="4806209" y="3470915"/>
            <a:ext cx="158927" cy="2475630"/>
          </a:xfrm>
          <a:prstGeom prst="rightBrace">
            <a:avLst>
              <a:gd name="adj1" fmla="val 111994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50B45010-C4B0-A8B7-B711-6B3CCDF93A95}"/>
              </a:ext>
            </a:extLst>
          </p:cNvPr>
          <p:cNvSpPr/>
          <p:nvPr/>
        </p:nvSpPr>
        <p:spPr bwMode="auto">
          <a:xfrm rot="5400000" flipV="1">
            <a:off x="5490462" y="5482026"/>
            <a:ext cx="162260" cy="1103793"/>
          </a:xfrm>
          <a:prstGeom prst="rightBrace">
            <a:avLst>
              <a:gd name="adj1" fmla="val 111994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335229-E073-E1BD-22D4-B3B46F71E417}"/>
              </a:ext>
            </a:extLst>
          </p:cNvPr>
          <p:cNvSpPr txBox="1"/>
          <p:nvPr/>
        </p:nvSpPr>
        <p:spPr>
          <a:xfrm>
            <a:off x="3179891" y="3344648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j-lt"/>
              </a:rPr>
              <a:t>90% unknown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45D5E1-E8CE-8BEE-6D08-3964DFC92EC2}"/>
              </a:ext>
            </a:extLst>
          </p:cNvPr>
          <p:cNvSpPr txBox="1"/>
          <p:nvPr/>
        </p:nvSpPr>
        <p:spPr>
          <a:xfrm>
            <a:off x="4128041" y="474441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j-lt"/>
              </a:rPr>
              <a:t>50% unknown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EEE0A3-082F-0587-5940-8546C933ED9C}"/>
              </a:ext>
            </a:extLst>
          </p:cNvPr>
          <p:cNvSpPr txBox="1"/>
          <p:nvPr/>
        </p:nvSpPr>
        <p:spPr>
          <a:xfrm>
            <a:off x="4705330" y="6115053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j-lt"/>
              </a:rPr>
              <a:t>10% unknown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69FBF5-EC5D-6798-0AA0-9F726D03DF7F}"/>
              </a:ext>
            </a:extLst>
          </p:cNvPr>
          <p:cNvGrpSpPr/>
          <p:nvPr/>
        </p:nvGrpSpPr>
        <p:grpSpPr>
          <a:xfrm>
            <a:off x="7146347" y="1525449"/>
            <a:ext cx="1997653" cy="2075919"/>
            <a:chOff x="6901961" y="1528324"/>
            <a:chExt cx="1997653" cy="207591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DF305E3-E365-FBA5-AD79-5C7F47D8146D}"/>
                </a:ext>
              </a:extLst>
            </p:cNvPr>
            <p:cNvSpPr txBox="1"/>
            <p:nvPr/>
          </p:nvSpPr>
          <p:spPr>
            <a:xfrm>
              <a:off x="6937139" y="1788361"/>
              <a:ext cx="1962475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50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80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125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200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320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500 kHz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800 kHz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E3FDE11-B704-6B6D-03D5-BC06DA485DA0}"/>
                </a:ext>
              </a:extLst>
            </p:cNvPr>
            <p:cNvSpPr txBox="1"/>
            <p:nvPr/>
          </p:nvSpPr>
          <p:spPr>
            <a:xfrm>
              <a:off x="6901961" y="1528324"/>
              <a:ext cx="14934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Frequency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201227-192B-B81D-5029-C7DBD3928193}"/>
              </a:ext>
            </a:extLst>
          </p:cNvPr>
          <p:cNvGrpSpPr/>
          <p:nvPr/>
        </p:nvGrpSpPr>
        <p:grpSpPr>
          <a:xfrm>
            <a:off x="7019282" y="4694411"/>
            <a:ext cx="1792483" cy="1169551"/>
            <a:chOff x="6996853" y="4678721"/>
            <a:chExt cx="1792483" cy="116955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9655008-1523-8836-F5F5-ADF83B33903C}"/>
                </a:ext>
              </a:extLst>
            </p:cNvPr>
            <p:cNvSpPr txBox="1"/>
            <p:nvPr/>
          </p:nvSpPr>
          <p:spPr>
            <a:xfrm>
              <a:off x="6996853" y="4678721"/>
              <a:ext cx="17924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Temperature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AAC3736-85A8-F9EC-D0EA-E73E12FDC8B0}"/>
                    </a:ext>
                  </a:extLst>
                </p:cNvPr>
                <p:cNvSpPr txBox="1"/>
                <p:nvPr/>
              </p:nvSpPr>
              <p:spPr>
                <a:xfrm>
                  <a:off x="7271665" y="5017275"/>
                  <a:ext cx="1194199" cy="8309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+mj-lt"/>
                      <a:ea typeface="Calibri" panose="020F0502020204030204" pitchFamily="34" charset="0"/>
                      <a:cs typeface="Calibri" panose="020F0502020204030204" pitchFamily="34" charset="0"/>
                    </a:rPr>
                    <a:t>25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a14:m>
                  <a:endParaRPr lang="en-US" sz="1600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+mj-lt"/>
                      <a:ea typeface="Calibri" panose="020F0502020204030204" pitchFamily="34" charset="0"/>
                      <a:cs typeface="Calibri" panose="020F0502020204030204" pitchFamily="34" charset="0"/>
                    </a:rPr>
                    <a:t>50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a14:m>
                  <a:endParaRPr lang="en-US" sz="1600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latin typeface="+mj-lt"/>
                      <a:ea typeface="Calibri" panose="020F0502020204030204" pitchFamily="34" charset="0"/>
                      <a:cs typeface="Calibri" panose="020F0502020204030204" pitchFamily="34" charset="0"/>
                    </a:rPr>
                    <a:t>70 </a:t>
                  </a:r>
                  <a14:m>
                    <m:oMath xmlns:m="http://schemas.openxmlformats.org/officeDocument/2006/math">
                      <m:r>
                        <a:rPr lang="en-US" sz="160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a14:m>
                  <a:endParaRPr lang="en-US" sz="1600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AAC3736-85A8-F9EC-D0EA-E73E12FDC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1665" y="5017275"/>
                  <a:ext cx="1194199" cy="830997"/>
                </a:xfrm>
                <a:prstGeom prst="rect">
                  <a:avLst/>
                </a:prstGeom>
                <a:blipFill>
                  <a:blip r:embed="rId9"/>
                  <a:stretch>
                    <a:fillRect l="-2051" t="-2206" b="-882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ADBD47C-D2DF-CC14-4BC9-3902C81574A4}"/>
              </a:ext>
            </a:extLst>
          </p:cNvPr>
          <p:cNvSpPr txBox="1"/>
          <p:nvPr/>
        </p:nvSpPr>
        <p:spPr>
          <a:xfrm>
            <a:off x="6426098" y="498094"/>
            <a:ext cx="2575943" cy="830997"/>
          </a:xfrm>
          <a:prstGeom prst="rect">
            <a:avLst/>
          </a:prstGeom>
          <a:solidFill>
            <a:srgbClr val="FFFF00"/>
          </a:solidFill>
          <a:ln>
            <a:solidFill>
              <a:srgbClr val="DB4C5E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Sampling frequency!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16 MHz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62.5 ns</a:t>
            </a:r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7FA30558-518F-A41D-E048-B0D920046322}"/>
              </a:ext>
            </a:extLst>
          </p:cNvPr>
          <p:cNvSpPr/>
          <p:nvPr/>
        </p:nvSpPr>
        <p:spPr bwMode="auto">
          <a:xfrm rot="16200000">
            <a:off x="3472255" y="-399427"/>
            <a:ext cx="178827" cy="5086266"/>
          </a:xfrm>
          <a:prstGeom prst="rightBrace">
            <a:avLst>
              <a:gd name="adj1" fmla="val 111994"/>
              <a:gd name="adj2" fmla="val 5000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610EE8-F2F1-DEF5-FB70-BA3F2FF69AB0}"/>
              </a:ext>
            </a:extLst>
          </p:cNvPr>
          <p:cNvSpPr txBox="1"/>
          <p:nvPr/>
        </p:nvSpPr>
        <p:spPr>
          <a:xfrm>
            <a:off x="2710040" y="1666549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+mj-lt"/>
              </a:rPr>
              <a:t>1,000 Steps</a:t>
            </a:r>
          </a:p>
        </p:txBody>
      </p:sp>
    </p:spTree>
    <p:extLst>
      <p:ext uri="{BB962C8B-B14F-4D97-AF65-F5344CB8AC3E}">
        <p14:creationId xmlns:p14="http://schemas.microsoft.com/office/powerpoint/2010/main" val="112736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C745519-71E8-8511-0F3E-4BE5AB3AE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84255"/>
                <a:ext cx="8086725" cy="538319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200" dirty="0"/>
                  <a:t>1. Sequence Relative Error: </a:t>
                </a:r>
              </a:p>
              <a:p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Er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𝑠𝑒𝑞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𝑅𝑀𝑆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𝑝𝑟𝑒𝑑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𝑚𝑒𝑎𝑠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𝑅𝑀𝑆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𝑚𝑒𝑎𝑠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lvl="1"/>
                <a:r>
                  <a:rPr lang="en-US" sz="1800" dirty="0"/>
                  <a:t>How well the predicted sequence fits the characteristic response of the input data.</a:t>
                </a:r>
              </a:p>
              <a:p>
                <a:pPr lvl="1"/>
                <a:endParaRPr lang="en-US" sz="1800" dirty="0"/>
              </a:p>
              <a:p>
                <a:r>
                  <a:rPr lang="en-US" sz="2200" dirty="0"/>
                  <a:t>2. Normalized Energy Relative Error: </a:t>
                </a:r>
              </a:p>
              <a:p>
                <a:pPr marL="0" indent="0">
                  <a:buNone/>
                </a:pPr>
                <a:r>
                  <a:rPr lang="en-US" sz="2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Err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𝑒𝑛𝑒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𝑝𝑟𝑒𝑑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𝑚𝑒𝑎𝑠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subSup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𝑚𝑒𝑎𝑠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/>
                  <a:t>: start of full sequence,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/>
                  <a:t>: end of full sequence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: start of test segment,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: end of test segment</a:t>
                </a:r>
              </a:p>
              <a:p>
                <a:pPr lvl="1"/>
                <a:r>
                  <a:rPr lang="en-US" sz="1800" dirty="0"/>
                  <a:t>How the segment total energy error compares normalized against the total core loss of the steady state sequence?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C745519-71E8-8511-0F3E-4BE5AB3AE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84255"/>
                <a:ext cx="8086725" cy="5383195"/>
              </a:xfrm>
              <a:blipFill>
                <a:blip r:embed="rId2"/>
                <a:stretch>
                  <a:fillRect l="-829" t="-1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A4A5DAC-2FD6-070B-3909-309260FB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4362"/>
            <a:ext cx="8229600" cy="569893"/>
          </a:xfrm>
        </p:spPr>
        <p:txBody>
          <a:bodyPr/>
          <a:lstStyle/>
          <a:p>
            <a:r>
              <a:rPr lang="en-US" dirty="0">
                <a:latin typeface="+mj-lt"/>
              </a:rPr>
              <a:t>Evaluation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71882-1040-F04E-0A70-12F7143C7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5DE2CA-23AF-F783-DB11-D89525D59B2E}"/>
              </a:ext>
            </a:extLst>
          </p:cNvPr>
          <p:cNvCxnSpPr/>
          <p:nvPr/>
        </p:nvCxnSpPr>
        <p:spPr bwMode="auto">
          <a:xfrm flipH="1">
            <a:off x="5345723" y="1396721"/>
            <a:ext cx="190919" cy="2512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44E697-F55D-D6AE-32AB-F18E13EDC227}"/>
              </a:ext>
            </a:extLst>
          </p:cNvPr>
          <p:cNvCxnSpPr>
            <a:cxnSpLocks/>
          </p:cNvCxnSpPr>
          <p:nvPr/>
        </p:nvCxnSpPr>
        <p:spPr bwMode="auto">
          <a:xfrm>
            <a:off x="3851649" y="1396720"/>
            <a:ext cx="294970" cy="1937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EFAC4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9BCB42-CC37-ED5B-EBFA-739EE42A15EF}"/>
              </a:ext>
            </a:extLst>
          </p:cNvPr>
          <p:cNvCxnSpPr>
            <a:cxnSpLocks/>
          </p:cNvCxnSpPr>
          <p:nvPr/>
        </p:nvCxnSpPr>
        <p:spPr bwMode="auto">
          <a:xfrm flipV="1">
            <a:off x="3859748" y="4365917"/>
            <a:ext cx="234462" cy="2076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EFAC44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4E0CBC-2B05-F1E4-06BB-4E2C259BA67F}"/>
              </a:ext>
            </a:extLst>
          </p:cNvPr>
          <p:cNvCxnSpPr>
            <a:cxnSpLocks/>
          </p:cNvCxnSpPr>
          <p:nvPr/>
        </p:nvCxnSpPr>
        <p:spPr bwMode="auto">
          <a:xfrm flipH="1">
            <a:off x="5164853" y="4841636"/>
            <a:ext cx="71343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78C36A51-F612-C39F-F682-90F07F79368F}"/>
              </a:ext>
            </a:extLst>
          </p:cNvPr>
          <p:cNvSpPr/>
          <p:nvPr/>
        </p:nvSpPr>
        <p:spPr bwMode="auto">
          <a:xfrm rot="16200000">
            <a:off x="5001567" y="4071259"/>
            <a:ext cx="149891" cy="1390862"/>
          </a:xfrm>
          <a:prstGeom prst="leftBrace">
            <a:avLst>
              <a:gd name="adj1" fmla="val 36132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5BDB6-D855-2F84-6E88-9D44F6A9CA4E}"/>
              </a:ext>
            </a:extLst>
          </p:cNvPr>
          <p:cNvSpPr txBox="1"/>
          <p:nvPr/>
        </p:nvSpPr>
        <p:spPr>
          <a:xfrm>
            <a:off x="5022877" y="1084816"/>
            <a:ext cx="1268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+mj-lt"/>
              </a:rPr>
              <a:t>Provided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442772-E232-3764-604F-9F6D4BC811E6}"/>
              </a:ext>
            </a:extLst>
          </p:cNvPr>
          <p:cNvSpPr txBox="1"/>
          <p:nvPr/>
        </p:nvSpPr>
        <p:spPr>
          <a:xfrm>
            <a:off x="2587492" y="1183842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EFAC44"/>
                </a:solidFill>
                <a:latin typeface="+mj-lt"/>
              </a:rPr>
              <a:t>Prediction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71C32FA-375B-B4B2-62BB-8E8952A9A1FF}"/>
              </a:ext>
            </a:extLst>
          </p:cNvPr>
          <p:cNvCxnSpPr>
            <a:cxnSpLocks/>
          </p:cNvCxnSpPr>
          <p:nvPr/>
        </p:nvCxnSpPr>
        <p:spPr bwMode="auto">
          <a:xfrm flipH="1">
            <a:off x="6195649" y="3735194"/>
            <a:ext cx="166897" cy="3260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C45DDF-1B83-125B-EBD1-8EC63FB6FFB8}"/>
              </a:ext>
            </a:extLst>
          </p:cNvPr>
          <p:cNvCxnSpPr>
            <a:cxnSpLocks/>
          </p:cNvCxnSpPr>
          <p:nvPr/>
        </p:nvCxnSpPr>
        <p:spPr bwMode="auto">
          <a:xfrm flipH="1">
            <a:off x="5687367" y="3735194"/>
            <a:ext cx="675179" cy="2512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D63A37-2097-9890-50DA-C4B65CB9E034}"/>
              </a:ext>
            </a:extLst>
          </p:cNvPr>
          <p:cNvSpPr txBox="1"/>
          <p:nvPr/>
        </p:nvSpPr>
        <p:spPr>
          <a:xfrm>
            <a:off x="6181417" y="3408662"/>
            <a:ext cx="268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+mj-lt"/>
              </a:rPr>
              <a:t>Provided or calculate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95E978-8C4A-D422-44B4-16BA89D4DCFE}"/>
              </a:ext>
            </a:extLst>
          </p:cNvPr>
          <p:cNvSpPr txBox="1"/>
          <p:nvPr/>
        </p:nvSpPr>
        <p:spPr>
          <a:xfrm>
            <a:off x="2785631" y="450707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EFAC44"/>
                </a:solidFill>
                <a:latin typeface="+mj-lt"/>
              </a:rPr>
              <a:t>Prediction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52C16D-C047-9E2B-74E6-165D49FB0819}"/>
              </a:ext>
            </a:extLst>
          </p:cNvPr>
          <p:cNvSpPr txBox="1"/>
          <p:nvPr/>
        </p:nvSpPr>
        <p:spPr>
          <a:xfrm>
            <a:off x="5828724" y="4653390"/>
            <a:ext cx="2579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  <a:latin typeface="+mj-lt"/>
              </a:rPr>
              <a:t>Provided (core loss) </a:t>
            </a:r>
          </a:p>
        </p:txBody>
      </p:sp>
    </p:spTree>
    <p:extLst>
      <p:ext uri="{BB962C8B-B14F-4D97-AF65-F5344CB8AC3E}">
        <p14:creationId xmlns:p14="http://schemas.microsoft.com/office/powerpoint/2010/main" val="2842958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542655-B245-D2D1-BEB0-B2EB67C1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1" y="309350"/>
            <a:ext cx="5368290" cy="602435"/>
          </a:xfrm>
        </p:spPr>
        <p:txBody>
          <a:bodyPr/>
          <a:lstStyle/>
          <a:p>
            <a:r>
              <a:rPr lang="en-US" dirty="0">
                <a:latin typeface="+mj-lt"/>
              </a:rPr>
              <a:t>Data Provided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28EC3-1818-2B97-A574-29451825B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9468F-E666-4024-BC99-9BCD31801BED}" type="slidenum">
              <a:rPr lang="en-US" smtClean="0">
                <a:latin typeface="+mj-lt"/>
              </a:rPr>
              <a:pPr>
                <a:defRPr/>
              </a:pPr>
              <a:t>5</a:t>
            </a:fld>
            <a:endParaRPr lang="en-US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8C45F-6A0C-9D58-7381-06629021940E}"/>
                  </a:ext>
                </a:extLst>
              </p:cNvPr>
              <p:cNvSpPr txBox="1"/>
              <p:nvPr/>
            </p:nvSpPr>
            <p:spPr>
              <a:xfrm>
                <a:off x="-5714" y="1731513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928C45F-6A0C-9D58-7381-066290219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14" y="1731513"/>
                <a:ext cx="6878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60604C-795E-5F0F-115C-DA9230227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98010"/>
              </p:ext>
            </p:extLst>
          </p:nvPr>
        </p:nvGraphicFramePr>
        <p:xfrm>
          <a:off x="2255017" y="1779019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577120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273706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K+1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M-1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A7FBA-A670-1DD3-41C4-B41A535FB8DD}"/>
                  </a:ext>
                </a:extLst>
              </p:cNvPr>
              <p:cNvSpPr txBox="1"/>
              <p:nvPr/>
            </p:nvSpPr>
            <p:spPr>
              <a:xfrm>
                <a:off x="0" y="5012604"/>
                <a:ext cx="68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3A7FBA-A670-1DD3-41C4-B41A535FB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012604"/>
                <a:ext cx="6878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EB412-966D-A78A-82A0-57F3DE8AD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57850"/>
              </p:ext>
            </p:extLst>
          </p:nvPr>
        </p:nvGraphicFramePr>
        <p:xfrm>
          <a:off x="2255017" y="5060110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586645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264181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K+1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M-2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M-1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rgbClr val="EFA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C54896E-D00F-0C1D-2863-E1C6CF433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3925"/>
            <a:ext cx="5104037" cy="503714"/>
          </a:xfrm>
        </p:spPr>
        <p:txBody>
          <a:bodyPr/>
          <a:lstStyle/>
          <a:p>
            <a:r>
              <a:rPr lang="en-US" sz="2200" dirty="0"/>
              <a:t>1. “Material”_</a:t>
            </a:r>
            <a:r>
              <a:rPr lang="en-US" sz="2200" dirty="0" err="1"/>
              <a:t>Testing_True</a:t>
            </a:r>
            <a:endParaRPr lang="en-US" sz="2200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9A83CE88-F0BB-A647-4AD8-8E133D86D95A}"/>
              </a:ext>
            </a:extLst>
          </p:cNvPr>
          <p:cNvSpPr txBox="1">
            <a:spLocks/>
          </p:cNvSpPr>
          <p:nvPr/>
        </p:nvSpPr>
        <p:spPr>
          <a:xfrm>
            <a:off x="560866" y="4346606"/>
            <a:ext cx="4724567" cy="503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Symbol" panose="05050102010706020507" pitchFamily="18" charset="2"/>
              <a:buChar char=""/>
              <a:defRPr sz="24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2200" dirty="0"/>
              <a:t>2. “Material”_</a:t>
            </a:r>
            <a:r>
              <a:rPr lang="en-US" sz="2200" dirty="0" err="1"/>
              <a:t>Testing_Padded</a:t>
            </a:r>
            <a:endParaRPr lang="en-US" sz="2200" dirty="0"/>
          </a:p>
          <a:p>
            <a:endParaRPr lang="en-US" sz="22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486566-AA9F-0A00-EA87-EC9766F2F3F4}"/>
                  </a:ext>
                </a:extLst>
              </p:cNvPr>
              <p:cNvSpPr txBox="1"/>
              <p:nvPr/>
            </p:nvSpPr>
            <p:spPr>
              <a:xfrm>
                <a:off x="-5714" y="2210975"/>
                <a:ext cx="9807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𝑚𝑒𝑎𝑠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486566-AA9F-0A00-EA87-EC9766F2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14" y="2210975"/>
                <a:ext cx="98071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Left Brace 16">
            <a:extLst>
              <a:ext uri="{FF2B5EF4-FFF2-40B4-BE49-F238E27FC236}">
                <a16:creationId xmlns:a16="http://schemas.microsoft.com/office/drawing/2014/main" id="{6A04CCF8-E73B-3151-7C2C-30F6A97876FA}"/>
              </a:ext>
            </a:extLst>
          </p:cNvPr>
          <p:cNvSpPr/>
          <p:nvPr/>
        </p:nvSpPr>
        <p:spPr bwMode="auto">
          <a:xfrm rot="16200000">
            <a:off x="3246204" y="4461366"/>
            <a:ext cx="274320" cy="2256694"/>
          </a:xfrm>
          <a:prstGeom prst="leftBrace">
            <a:avLst>
              <a:gd name="adj1" fmla="val 38652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542C0CDF-CBE4-EB04-6C82-A7A2A4158367}"/>
              </a:ext>
            </a:extLst>
          </p:cNvPr>
          <p:cNvSpPr/>
          <p:nvPr/>
        </p:nvSpPr>
        <p:spPr bwMode="auto">
          <a:xfrm rot="16200000">
            <a:off x="5818374" y="4185683"/>
            <a:ext cx="274320" cy="2808059"/>
          </a:xfrm>
          <a:prstGeom prst="leftBrace">
            <a:avLst>
              <a:gd name="adj1" fmla="val 38652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33244D-1930-A0F3-BE4F-6CA9E5648C99}"/>
                  </a:ext>
                </a:extLst>
              </p:cNvPr>
              <p:cNvSpPr txBox="1"/>
              <p:nvPr/>
            </p:nvSpPr>
            <p:spPr>
              <a:xfrm>
                <a:off x="2943541" y="5726873"/>
                <a:ext cx="1073557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𝑝𝑎𝑠𝑡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333244D-1930-A0F3-BE4F-6CA9E5648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541" y="5726873"/>
                <a:ext cx="1073557" cy="390748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1D0FCA-A47B-E5A5-713B-FECE0DA08A14}"/>
                  </a:ext>
                </a:extLst>
              </p:cNvPr>
              <p:cNvSpPr txBox="1"/>
              <p:nvPr/>
            </p:nvSpPr>
            <p:spPr>
              <a:xfrm>
                <a:off x="5561237" y="5726873"/>
                <a:ext cx="1073557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𝑝𝑟𝑒𝑑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1D0FCA-A47B-E5A5-713B-FECE0DA08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237" y="5726873"/>
                <a:ext cx="1073557" cy="390748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CC993E-3168-288F-C4CC-648A095EF662}"/>
                  </a:ext>
                </a:extLst>
              </p:cNvPr>
              <p:cNvSpPr txBox="1"/>
              <p:nvPr/>
            </p:nvSpPr>
            <p:spPr>
              <a:xfrm>
                <a:off x="6510877" y="613374"/>
                <a:ext cx="68786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Temp</m:t>
                      </m:r>
                    </m:oMath>
                  </m:oMathPara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CC993E-3168-288F-C4CC-648A095EF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877" y="613374"/>
                <a:ext cx="687869" cy="400110"/>
              </a:xfrm>
              <a:prstGeom prst="rect">
                <a:avLst/>
              </a:prstGeom>
              <a:blipFill>
                <a:blip r:embed="rId8"/>
                <a:stretch>
                  <a:fillRect l="-3540" r="-21239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A747CC-5FE7-C11F-7EF4-3456C2FC0219}"/>
                  </a:ext>
                </a:extLst>
              </p:cNvPr>
              <p:cNvSpPr txBox="1"/>
              <p:nvPr/>
            </p:nvSpPr>
            <p:spPr>
              <a:xfrm>
                <a:off x="6309909" y="1091357"/>
                <a:ext cx="12053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Core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Loss</m:t>
                      </m:r>
                    </m:oMath>
                  </m:oMathPara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DA747CC-5FE7-C11F-7EF4-3456C2FC0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09" y="1091357"/>
                <a:ext cx="1205316" cy="400110"/>
              </a:xfrm>
              <a:prstGeom prst="rect">
                <a:avLst/>
              </a:prstGeom>
              <a:blipFill>
                <a:blip r:embed="rId9"/>
                <a:stretch>
                  <a:fillRect r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D1495626-4862-5574-3FC9-E08B6ED8C4CB}"/>
              </a:ext>
            </a:extLst>
          </p:cNvPr>
          <p:cNvSpPr/>
          <p:nvPr/>
        </p:nvSpPr>
        <p:spPr bwMode="auto">
          <a:xfrm rot="16200000">
            <a:off x="5808731" y="1303388"/>
            <a:ext cx="274320" cy="2828160"/>
          </a:xfrm>
          <a:prstGeom prst="leftBrace">
            <a:avLst>
              <a:gd name="adj1" fmla="val 38652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752A97-3A10-BE2B-C2B3-35ED99C461E3}"/>
                  </a:ext>
                </a:extLst>
              </p:cNvPr>
              <p:cNvSpPr txBox="1"/>
              <p:nvPr/>
            </p:nvSpPr>
            <p:spPr>
              <a:xfrm>
                <a:off x="5472418" y="2854628"/>
                <a:ext cx="10735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𝑚𝑒𝑎𝑠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E752A97-3A10-BE2B-C2B3-35ED99C46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418" y="2854628"/>
                <a:ext cx="107355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2B765D3-E8A4-6DB0-8116-0270C53D3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93"/>
              </p:ext>
            </p:extLst>
          </p:nvPr>
        </p:nvGraphicFramePr>
        <p:xfrm>
          <a:off x="2255017" y="2263800"/>
          <a:ext cx="510495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13">
                  <a:extLst>
                    <a:ext uri="{9D8B030D-6E8A-4147-A177-3AD203B41FA5}">
                      <a16:colId xmlns:a16="http://schemas.microsoft.com/office/drawing/2014/main" val="1907002008"/>
                    </a:ext>
                  </a:extLst>
                </a:gridCol>
                <a:gridCol w="567595">
                  <a:extLst>
                    <a:ext uri="{9D8B030D-6E8A-4147-A177-3AD203B41FA5}">
                      <a16:colId xmlns:a16="http://schemas.microsoft.com/office/drawing/2014/main" val="2749942963"/>
                    </a:ext>
                  </a:extLst>
                </a:gridCol>
                <a:gridCol w="283231">
                  <a:extLst>
                    <a:ext uri="{9D8B030D-6E8A-4147-A177-3AD203B41FA5}">
                      <a16:colId xmlns:a16="http://schemas.microsoft.com/office/drawing/2014/main" val="2489985817"/>
                    </a:ext>
                  </a:extLst>
                </a:gridCol>
                <a:gridCol w="288610">
                  <a:extLst>
                    <a:ext uri="{9D8B030D-6E8A-4147-A177-3AD203B41FA5}">
                      <a16:colId xmlns:a16="http://schemas.microsoft.com/office/drawing/2014/main" val="1823631271"/>
                    </a:ext>
                  </a:extLst>
                </a:gridCol>
                <a:gridCol w="386499">
                  <a:extLst>
                    <a:ext uri="{9D8B030D-6E8A-4147-A177-3AD203B41FA5}">
                      <a16:colId xmlns:a16="http://schemas.microsoft.com/office/drawing/2014/main" val="3391188162"/>
                    </a:ext>
                  </a:extLst>
                </a:gridCol>
                <a:gridCol w="329938">
                  <a:extLst>
                    <a:ext uri="{9D8B030D-6E8A-4147-A177-3AD203B41FA5}">
                      <a16:colId xmlns:a16="http://schemas.microsoft.com/office/drawing/2014/main" val="2368385547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1195111784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434243564"/>
                    </a:ext>
                  </a:extLst>
                </a:gridCol>
                <a:gridCol w="348792">
                  <a:extLst>
                    <a:ext uri="{9D8B030D-6E8A-4147-A177-3AD203B41FA5}">
                      <a16:colId xmlns:a16="http://schemas.microsoft.com/office/drawing/2014/main" val="85368696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946071673"/>
                    </a:ext>
                  </a:extLst>
                </a:gridCol>
                <a:gridCol w="692003">
                  <a:extLst>
                    <a:ext uri="{9D8B030D-6E8A-4147-A177-3AD203B41FA5}">
                      <a16:colId xmlns:a16="http://schemas.microsoft.com/office/drawing/2014/main" val="3413700373"/>
                    </a:ext>
                  </a:extLst>
                </a:gridCol>
                <a:gridCol w="425413">
                  <a:extLst>
                    <a:ext uri="{9D8B030D-6E8A-4147-A177-3AD203B41FA5}">
                      <a16:colId xmlns:a16="http://schemas.microsoft.com/office/drawing/2014/main" val="1718135111"/>
                    </a:ext>
                  </a:extLst>
                </a:gridCol>
              </a:tblGrid>
              <a:tr h="25035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K+1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.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M-2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M-1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</a:t>
                      </a:r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131"/>
                  </a:ext>
                </a:extLst>
              </a:tr>
            </a:tbl>
          </a:graphicData>
        </a:graphic>
      </p:graphicFrame>
      <p:sp>
        <p:nvSpPr>
          <p:cNvPr id="28" name="Left Brace 27">
            <a:extLst>
              <a:ext uri="{FF2B5EF4-FFF2-40B4-BE49-F238E27FC236}">
                <a16:creationId xmlns:a16="http://schemas.microsoft.com/office/drawing/2014/main" id="{A12A5438-A9E6-AFE3-2DFC-B012EB29BE2D}"/>
              </a:ext>
            </a:extLst>
          </p:cNvPr>
          <p:cNvSpPr/>
          <p:nvPr/>
        </p:nvSpPr>
        <p:spPr bwMode="auto">
          <a:xfrm rot="16200000">
            <a:off x="4767808" y="-314379"/>
            <a:ext cx="274320" cy="7312465"/>
          </a:xfrm>
          <a:prstGeom prst="leftBrace">
            <a:avLst>
              <a:gd name="adj1" fmla="val 38652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6D703D5-6FBB-0141-C287-C32D5A686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28962"/>
              </p:ext>
            </p:extLst>
          </p:nvPr>
        </p:nvGraphicFramePr>
        <p:xfrm>
          <a:off x="7686371" y="705841"/>
          <a:ext cx="30128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84">
                  <a:extLst>
                    <a:ext uri="{9D8B030D-6E8A-4147-A177-3AD203B41FA5}">
                      <a16:colId xmlns:a16="http://schemas.microsoft.com/office/drawing/2014/main" val="24296415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984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EC7E0A3-FA0A-EB0E-A6B7-08C60F0C7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795126"/>
              </p:ext>
            </p:extLst>
          </p:nvPr>
        </p:nvGraphicFramePr>
        <p:xfrm>
          <a:off x="7686371" y="1199961"/>
          <a:ext cx="301284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84">
                  <a:extLst>
                    <a:ext uri="{9D8B030D-6E8A-4147-A177-3AD203B41FA5}">
                      <a16:colId xmlns:a16="http://schemas.microsoft.com/office/drawing/2014/main" val="24296415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solidFill>
                      <a:srgbClr val="00A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98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17BB3B-1951-E58B-C742-05D0027A990B}"/>
                  </a:ext>
                </a:extLst>
              </p:cNvPr>
              <p:cNvSpPr txBox="1"/>
              <p:nvPr/>
            </p:nvSpPr>
            <p:spPr>
              <a:xfrm>
                <a:off x="2854596" y="3550939"/>
                <a:ext cx="4233212" cy="778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Core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∙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𝑚𝑒𝑎𝑠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17BB3B-1951-E58B-C742-05D0027A9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596" y="3550939"/>
                <a:ext cx="4233212" cy="7787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4E3C88-3049-BA0F-5906-7F2ED4C53606}"/>
              </a:ext>
            </a:extLst>
          </p:cNvPr>
          <p:cNvCxnSpPr>
            <a:cxnSpLocks/>
          </p:cNvCxnSpPr>
          <p:nvPr/>
        </p:nvCxnSpPr>
        <p:spPr bwMode="auto">
          <a:xfrm>
            <a:off x="4531811" y="1587639"/>
            <a:ext cx="0" cy="446388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D77D159-7834-E2DB-EA8A-18BC914863C5}"/>
              </a:ext>
            </a:extLst>
          </p:cNvPr>
          <p:cNvSpPr txBox="1"/>
          <p:nvPr/>
        </p:nvSpPr>
        <p:spPr>
          <a:xfrm>
            <a:off x="1381502" y="2107295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14701D-9789-9203-2C5A-BC28C47E571E}"/>
              </a:ext>
            </a:extLst>
          </p:cNvPr>
          <p:cNvSpPr txBox="1"/>
          <p:nvPr/>
        </p:nvSpPr>
        <p:spPr>
          <a:xfrm>
            <a:off x="1381502" y="1608096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CB30C6-B766-A03B-1AF3-CD750605F330}"/>
              </a:ext>
            </a:extLst>
          </p:cNvPr>
          <p:cNvSpPr txBox="1"/>
          <p:nvPr/>
        </p:nvSpPr>
        <p:spPr>
          <a:xfrm>
            <a:off x="7348307" y="1586038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FF44E0-D11C-AC66-97EF-4F4486B211FA}"/>
              </a:ext>
            </a:extLst>
          </p:cNvPr>
          <p:cNvSpPr txBox="1"/>
          <p:nvPr/>
        </p:nvSpPr>
        <p:spPr>
          <a:xfrm>
            <a:off x="7359971" y="2046717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B12B31-6849-826D-3092-EEE254C9F87D}"/>
              </a:ext>
            </a:extLst>
          </p:cNvPr>
          <p:cNvSpPr txBox="1"/>
          <p:nvPr/>
        </p:nvSpPr>
        <p:spPr>
          <a:xfrm>
            <a:off x="1359788" y="4872765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65BB93-68FC-7DB5-D08D-688A91B7DA07}"/>
              </a:ext>
            </a:extLst>
          </p:cNvPr>
          <p:cNvSpPr txBox="1"/>
          <p:nvPr/>
        </p:nvSpPr>
        <p:spPr>
          <a:xfrm>
            <a:off x="7359970" y="4872765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19DA8F-8361-D8FF-F6B1-842622624B13}"/>
              </a:ext>
            </a:extLst>
          </p:cNvPr>
          <p:cNvSpPr txBox="1"/>
          <p:nvPr/>
        </p:nvSpPr>
        <p:spPr>
          <a:xfrm>
            <a:off x="1119925" y="2263800"/>
            <a:ext cx="29648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F7B67D-6945-2CC5-BAEF-BDD0052FB061}"/>
              </a:ext>
            </a:extLst>
          </p:cNvPr>
          <p:cNvSpPr txBox="1"/>
          <p:nvPr/>
        </p:nvSpPr>
        <p:spPr>
          <a:xfrm>
            <a:off x="1122740" y="1777679"/>
            <a:ext cx="29367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24436A-2B39-6564-76A8-EAA48523E117}"/>
              </a:ext>
            </a:extLst>
          </p:cNvPr>
          <p:cNvSpPr txBox="1"/>
          <p:nvPr/>
        </p:nvSpPr>
        <p:spPr>
          <a:xfrm>
            <a:off x="8198578" y="1764082"/>
            <a:ext cx="31451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F7D049-70E0-2CF2-D9BB-A65E217160C9}"/>
              </a:ext>
            </a:extLst>
          </p:cNvPr>
          <p:cNvSpPr txBox="1"/>
          <p:nvPr/>
        </p:nvSpPr>
        <p:spPr>
          <a:xfrm>
            <a:off x="8197464" y="2250737"/>
            <a:ext cx="31451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B9F424-4FCB-7529-FF34-160B01CB97D9}"/>
              </a:ext>
            </a:extLst>
          </p:cNvPr>
          <p:cNvSpPr txBox="1"/>
          <p:nvPr/>
        </p:nvSpPr>
        <p:spPr>
          <a:xfrm>
            <a:off x="1122740" y="5061804"/>
            <a:ext cx="29367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D5CD97-8067-13B6-917A-C08756EAC1C7}"/>
              </a:ext>
            </a:extLst>
          </p:cNvPr>
          <p:cNvSpPr txBox="1"/>
          <p:nvPr/>
        </p:nvSpPr>
        <p:spPr>
          <a:xfrm>
            <a:off x="8198578" y="5048207"/>
            <a:ext cx="31451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+mn-lt"/>
                <a:ea typeface="+mn-ea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5038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8" grpId="0" animBg="1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2A31D-5DD1-57EE-4A3D-7214704A0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B9FD2-2177-4C1F-AF21-4813976312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1ACFF58-38B7-E983-AD5D-91A129734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43816"/>
            <a:ext cx="8229600" cy="1089759"/>
          </a:xfrm>
        </p:spPr>
        <p:txBody>
          <a:bodyPr/>
          <a:lstStyle/>
          <a:p>
            <a:r>
              <a:rPr lang="en-US" sz="1800" dirty="0"/>
              <a:t>Please visit </a:t>
            </a:r>
            <a:r>
              <a:rPr lang="en-US" sz="1800" dirty="0" err="1"/>
              <a:t>MagNet</a:t>
            </a:r>
            <a:r>
              <a:rPr lang="en-US" sz="1800" dirty="0"/>
              <a:t> Challenge GitHub: </a:t>
            </a:r>
            <a:r>
              <a:rPr lang="en-US" sz="18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https://github.com/minjiechen/magnetchallenge-2</a:t>
            </a:r>
            <a:endParaRPr lang="en-US" sz="1800" dirty="0">
              <a:latin typeface="+mj-lt"/>
            </a:endParaRPr>
          </a:p>
          <a:p>
            <a:r>
              <a:rPr lang="en-US" sz="1800" dirty="0"/>
              <a:t>Or </a:t>
            </a:r>
            <a:r>
              <a:rPr lang="en-US" sz="1800" dirty="0" err="1"/>
              <a:t>MagNetX</a:t>
            </a:r>
            <a:r>
              <a:rPr lang="en-US" sz="1800" dirty="0"/>
              <a:t> GitHub: </a:t>
            </a:r>
            <a:r>
              <a:rPr lang="en-US" sz="1800" u="sng" dirty="0">
                <a:latin typeface="+mj-lt"/>
              </a:rPr>
              <a:t>https://github.com/PaulShuk/MagNetX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926EA6-B2BF-095F-73D9-207C5399B26E}"/>
              </a:ext>
            </a:extLst>
          </p:cNvPr>
          <p:cNvSpPr txBox="1">
            <a:spLocks/>
          </p:cNvSpPr>
          <p:nvPr/>
        </p:nvSpPr>
        <p:spPr>
          <a:xfrm>
            <a:off x="178122" y="2443398"/>
            <a:ext cx="5079441" cy="3255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Symbol" panose="05050102010706020507" pitchFamily="18" charset="2"/>
              <a:buChar char=""/>
              <a:defRPr sz="24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Tx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j-lt"/>
                <a:ea typeface="ＭＳ Ｐゴシック" pitchFamily="-112" charset="-128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8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sz="1800" kern="0" dirty="0">
                <a:solidFill>
                  <a:schemeClr val="accent2"/>
                </a:solidFill>
              </a:rPr>
              <a:t>1. “Material”_</a:t>
            </a:r>
            <a:r>
              <a:rPr lang="en-US" sz="1800" kern="0" dirty="0" err="1">
                <a:solidFill>
                  <a:schemeClr val="accent2"/>
                </a:solidFill>
              </a:rPr>
              <a:t>Testing_True</a:t>
            </a:r>
            <a:endParaRPr lang="en-US" sz="1800" kern="0" dirty="0">
              <a:solidFill>
                <a:schemeClr val="accent2"/>
              </a:solidFill>
            </a:endParaRPr>
          </a:p>
          <a:p>
            <a:pPr lvl="1"/>
            <a:r>
              <a:rPr lang="en-US" sz="1800" kern="0" dirty="0"/>
              <a:t>Original B excitation segment</a:t>
            </a:r>
          </a:p>
          <a:p>
            <a:pPr lvl="1"/>
            <a:r>
              <a:rPr lang="en-US" sz="1800" kern="0" dirty="0"/>
              <a:t>Original H excitation segment</a:t>
            </a:r>
          </a:p>
          <a:p>
            <a:pPr lvl="1"/>
            <a:r>
              <a:rPr lang="en-US" sz="1800" kern="0" dirty="0"/>
              <a:t>Temperature for each segment</a:t>
            </a:r>
          </a:p>
          <a:p>
            <a:pPr lvl="1"/>
            <a:r>
              <a:rPr lang="en-US" sz="1800" kern="0" dirty="0"/>
              <a:t>Full sequence core loss value for each segment</a:t>
            </a:r>
          </a:p>
          <a:p>
            <a:r>
              <a:rPr lang="en-US" sz="1800" kern="0" dirty="0">
                <a:solidFill>
                  <a:srgbClr val="EFAC44"/>
                </a:solidFill>
              </a:rPr>
              <a:t>2. </a:t>
            </a:r>
            <a:r>
              <a:rPr lang="en-US" sz="1800" dirty="0">
                <a:solidFill>
                  <a:srgbClr val="EFAC44"/>
                </a:solidFill>
              </a:rPr>
              <a:t>“Material”_</a:t>
            </a:r>
            <a:r>
              <a:rPr lang="en-US" sz="1800" dirty="0" err="1">
                <a:solidFill>
                  <a:srgbClr val="EFAC44"/>
                </a:solidFill>
              </a:rPr>
              <a:t>Testing_Padded</a:t>
            </a:r>
            <a:endParaRPr lang="en-US" sz="1800" dirty="0">
              <a:solidFill>
                <a:srgbClr val="EFAC44"/>
              </a:solidFill>
            </a:endParaRPr>
          </a:p>
          <a:p>
            <a:pPr lvl="1"/>
            <a:r>
              <a:rPr lang="en-US" sz="1800" kern="0" dirty="0"/>
              <a:t>Partially provided H segment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04786B-0CC7-62A8-BAD5-487956978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670" y="2605302"/>
            <a:ext cx="4164207" cy="24197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75CED7-1A32-16BD-A872-E8D1B2C9CED6}"/>
              </a:ext>
            </a:extLst>
          </p:cNvPr>
          <p:cNvSpPr/>
          <p:nvPr/>
        </p:nvSpPr>
        <p:spPr bwMode="auto">
          <a:xfrm>
            <a:off x="4801670" y="2605302"/>
            <a:ext cx="4164207" cy="164739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05700-C511-7AC3-F360-02F63B2C63AE}"/>
              </a:ext>
            </a:extLst>
          </p:cNvPr>
          <p:cNvSpPr/>
          <p:nvPr/>
        </p:nvSpPr>
        <p:spPr bwMode="auto">
          <a:xfrm>
            <a:off x="4801669" y="4252697"/>
            <a:ext cx="4164207" cy="772347"/>
          </a:xfrm>
          <a:prstGeom prst="rect">
            <a:avLst/>
          </a:prstGeom>
          <a:noFill/>
          <a:ln w="28575" cap="flat" cmpd="sng" algn="ctr">
            <a:solidFill>
              <a:srgbClr val="EFAC4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3179D-63D3-6652-58E9-B7D1E5428533}"/>
              </a:ext>
            </a:extLst>
          </p:cNvPr>
          <p:cNvSpPr txBox="1"/>
          <p:nvPr/>
        </p:nvSpPr>
        <p:spPr>
          <a:xfrm>
            <a:off x="178123" y="5069095"/>
            <a:ext cx="868173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 </a:t>
            </a:r>
            <a:r>
              <a:rPr lang="en-US" sz="2200" dirty="0">
                <a:latin typeface="+mj-lt"/>
              </a:rPr>
              <a:t>Model Evaluation: Inference.py</a:t>
            </a:r>
          </a:p>
          <a:p>
            <a:r>
              <a:rPr lang="en-US" sz="2200" dirty="0">
                <a:latin typeface="+mj-lt"/>
              </a:rPr>
              <a:t>3. Result Generation: </a:t>
            </a:r>
            <a:r>
              <a:rPr lang="en-US" sz="2200" dirty="0" err="1">
                <a:latin typeface="+mj-lt"/>
              </a:rPr>
              <a:t>Error_Distribution_Plot_Template.mat</a:t>
            </a:r>
            <a:endParaRPr lang="en-US" sz="2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ACBE7-900A-7906-AFDD-C352D6843A7D}"/>
              </a:ext>
            </a:extLst>
          </p:cNvPr>
          <p:cNvSpPr txBox="1"/>
          <p:nvPr/>
        </p:nvSpPr>
        <p:spPr>
          <a:xfrm>
            <a:off x="178123" y="1981733"/>
            <a:ext cx="5148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sz="2200" dirty="0">
                <a:latin typeface="+mj-lt"/>
              </a:rPr>
              <a:t>.  Data Saving: </a:t>
            </a:r>
            <a:r>
              <a:rPr lang="en-US" sz="2200" dirty="0" err="1">
                <a:latin typeface="+mj-lt"/>
              </a:rPr>
              <a:t>PreTest_Save.mat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0998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F2AEAE-9963-91A9-F83D-CF905C0448C6}"/>
              </a:ext>
            </a:extLst>
          </p:cNvPr>
          <p:cNvSpPr/>
          <p:nvPr/>
        </p:nvSpPr>
        <p:spPr bwMode="auto">
          <a:xfrm>
            <a:off x="0" y="5687367"/>
            <a:ext cx="1708220" cy="80820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28" charset="0"/>
              <a:ea typeface="ＭＳ Ｐゴシック" pitchFamily="28" charset="-128"/>
              <a:cs typeface="ＭＳ Ｐゴシック" pitchFamily="28" charset="-128"/>
            </a:endParaRPr>
          </a:p>
        </p:txBody>
      </p:sp>
      <p:pic>
        <p:nvPicPr>
          <p:cNvPr id="6" name="Content Placeholder 5" descr="A graph of a number of error&#10;&#10;AI-generated content may be incorrect.">
            <a:extLst>
              <a:ext uri="{FF2B5EF4-FFF2-40B4-BE49-F238E27FC236}">
                <a16:creationId xmlns:a16="http://schemas.microsoft.com/office/drawing/2014/main" id="{F7833CF8-97C5-0764-C207-C7F728F32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582"/>
          <a:stretch>
            <a:fillRect/>
          </a:stretch>
        </p:blipFill>
        <p:spPr>
          <a:xfrm>
            <a:off x="4692581" y="857812"/>
            <a:ext cx="4350936" cy="256758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77348A2-888D-4546-8078-F52FF3DF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496C9-7B5C-B6B2-E944-8E54CA2DE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869468F-E666-4024-BC99-9BCD31801BE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8" name="Picture 7" descr="A graph of energy normalized relative error&#10;&#10;AI-generated content may be incorrect.">
            <a:extLst>
              <a:ext uri="{FF2B5EF4-FFF2-40B4-BE49-F238E27FC236}">
                <a16:creationId xmlns:a16="http://schemas.microsoft.com/office/drawing/2014/main" id="{B9766CBD-7443-BF84-F2FB-A7998C824C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44"/>
          <a:stretch>
            <a:fillRect/>
          </a:stretch>
        </p:blipFill>
        <p:spPr>
          <a:xfrm>
            <a:off x="4692581" y="3883430"/>
            <a:ext cx="4350936" cy="258593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AE488-90F4-1AE7-C658-49BDA27DD1AE}"/>
              </a:ext>
            </a:extLst>
          </p:cNvPr>
          <p:cNvCxnSpPr/>
          <p:nvPr/>
        </p:nvCxnSpPr>
        <p:spPr bwMode="auto">
          <a:xfrm>
            <a:off x="0" y="3758808"/>
            <a:ext cx="904351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 descr="A graph of data points&#10;&#10;AI-generated content may be incorrect.">
            <a:extLst>
              <a:ext uri="{FF2B5EF4-FFF2-40B4-BE49-F238E27FC236}">
                <a16:creationId xmlns:a16="http://schemas.microsoft.com/office/drawing/2014/main" id="{6E02AB39-1FAF-0D9E-CAD6-002ACAF95C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69" t="65789" r="32918" b="8982"/>
          <a:stretch>
            <a:fillRect/>
          </a:stretch>
        </p:blipFill>
        <p:spPr>
          <a:xfrm>
            <a:off x="104166" y="1295439"/>
            <a:ext cx="4417592" cy="18704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F4E532-BC27-E934-6B7B-AC7ECF6C1E33}"/>
              </a:ext>
            </a:extLst>
          </p:cNvPr>
          <p:cNvSpPr txBox="1"/>
          <p:nvPr/>
        </p:nvSpPr>
        <p:spPr>
          <a:xfrm>
            <a:off x="1895153" y="3111486"/>
            <a:ext cx="1359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Data Points</a:t>
            </a:r>
          </a:p>
        </p:txBody>
      </p:sp>
      <p:pic>
        <p:nvPicPr>
          <p:cNvPr id="13" name="Picture 1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768719E-9F8F-B74A-10EA-14F1CE1C9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83430"/>
            <a:ext cx="3938024" cy="261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0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90A3B-EDA2-834C-B92E-E2EB3479E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88">
            <a:extLst>
              <a:ext uri="{FF2B5EF4-FFF2-40B4-BE49-F238E27FC236}">
                <a16:creationId xmlns:a16="http://schemas.microsoft.com/office/drawing/2014/main" id="{92DF0033-BCFC-CCAB-7D1B-DBC00A53A930}"/>
              </a:ext>
            </a:extLst>
          </p:cNvPr>
          <p:cNvSpPr txBox="1"/>
          <p:nvPr/>
        </p:nvSpPr>
        <p:spPr>
          <a:xfrm>
            <a:off x="6490698" y="4068626"/>
            <a:ext cx="1302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AEA9B038-31B0-26CC-B73C-EB399DA58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14362"/>
            <a:ext cx="8394569" cy="523838"/>
          </a:xfrm>
        </p:spPr>
        <p:txBody>
          <a:bodyPr/>
          <a:lstStyle/>
          <a:p>
            <a:r>
              <a:rPr lang="en-US" dirty="0">
                <a:latin typeface="+mj-lt"/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7DCE8-06FC-6085-FCEE-D5E489D62881}"/>
              </a:ext>
            </a:extLst>
          </p:cNvPr>
          <p:cNvSpPr txBox="1"/>
          <p:nvPr/>
        </p:nvSpPr>
        <p:spPr>
          <a:xfrm>
            <a:off x="1800520" y="5876447"/>
            <a:ext cx="624997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latin typeface="+mj-lt"/>
              </a:rPr>
              <a:t>Hyukjae</a:t>
            </a:r>
            <a:r>
              <a:rPr lang="en-US" sz="1100" dirty="0">
                <a:latin typeface="+mj-lt"/>
              </a:rPr>
              <a:t> Kwon, Shukai Wang, Haoran Li, et al. “</a:t>
            </a:r>
            <a:r>
              <a:rPr lang="en-US" sz="1100" b="1" dirty="0" err="1">
                <a:latin typeface="+mj-lt"/>
              </a:rPr>
              <a:t>MagNetX</a:t>
            </a:r>
            <a:r>
              <a:rPr lang="en-US" sz="1100" b="1" dirty="0">
                <a:latin typeface="+mj-lt"/>
              </a:rPr>
              <a:t>: Extending the </a:t>
            </a:r>
            <a:r>
              <a:rPr lang="en-US" sz="1100" b="1" dirty="0" err="1">
                <a:latin typeface="+mj-lt"/>
              </a:rPr>
              <a:t>MagNet</a:t>
            </a:r>
            <a:r>
              <a:rPr lang="en-US" sz="1100" b="1" dirty="0">
                <a:latin typeface="+mj-lt"/>
              </a:rPr>
              <a:t> Database for Modeling Power Magnetics in Transient</a:t>
            </a:r>
            <a:r>
              <a:rPr lang="en-US" sz="1100" dirty="0">
                <a:latin typeface="+mj-lt"/>
              </a:rPr>
              <a:t>,” </a:t>
            </a:r>
            <a:r>
              <a:rPr lang="en-US" sz="1100" i="1" dirty="0" err="1">
                <a:latin typeface="+mj-lt"/>
              </a:rPr>
              <a:t>TechRxiv</a:t>
            </a:r>
            <a:r>
              <a:rPr lang="en-US" sz="1100" dirty="0">
                <a:latin typeface="+mj-lt"/>
              </a:rPr>
              <a:t>. December 11, 2024. </a:t>
            </a:r>
            <a:r>
              <a:rPr lang="en-US" sz="1100" b="0" i="0" dirty="0">
                <a:solidFill>
                  <a:srgbClr val="333333"/>
                </a:solidFill>
                <a:effectLst/>
                <a:latin typeface="+mj-lt"/>
              </a:rPr>
              <a:t>Accepted to </a:t>
            </a:r>
            <a:r>
              <a:rPr lang="en-US" sz="1100" dirty="0">
                <a:solidFill>
                  <a:srgbClr val="333333"/>
                </a:solidFill>
                <a:latin typeface="+mj-lt"/>
              </a:rPr>
              <a:t>APEC 2025.</a:t>
            </a:r>
            <a:endParaRPr lang="en-US" sz="1100" dirty="0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461B4C-4857-757C-3422-5645AA4CB58E}"/>
              </a:ext>
            </a:extLst>
          </p:cNvPr>
          <p:cNvSpPr/>
          <p:nvPr/>
        </p:nvSpPr>
        <p:spPr>
          <a:xfrm>
            <a:off x="193314" y="936942"/>
            <a:ext cx="2287178" cy="325363"/>
          </a:xfrm>
          <a:prstGeom prst="rect">
            <a:avLst/>
          </a:prstGeom>
          <a:solidFill>
            <a:srgbClr val="00A7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1. Training data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A2C94E-2739-735D-EAC7-3E2A17550ED5}"/>
              </a:ext>
            </a:extLst>
          </p:cNvPr>
          <p:cNvSpPr/>
          <p:nvPr/>
        </p:nvSpPr>
        <p:spPr>
          <a:xfrm>
            <a:off x="193314" y="2296334"/>
            <a:ext cx="2287178" cy="325363"/>
          </a:xfrm>
          <a:prstGeom prst="rect">
            <a:avLst/>
          </a:prstGeom>
          <a:solidFill>
            <a:srgbClr val="00A7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2. Pre-Evaluation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F5B536-B106-EABF-3576-D25A17160125}"/>
              </a:ext>
            </a:extLst>
          </p:cNvPr>
          <p:cNvSpPr/>
          <p:nvPr/>
        </p:nvSpPr>
        <p:spPr>
          <a:xfrm>
            <a:off x="197146" y="3779810"/>
            <a:ext cx="2271844" cy="325363"/>
          </a:xfrm>
          <a:prstGeom prst="rect">
            <a:avLst/>
          </a:prstGeom>
          <a:solidFill>
            <a:srgbClr val="00A7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3. New Materials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C8A961-9392-DD2B-AB93-AF7A73C42203}"/>
              </a:ext>
            </a:extLst>
          </p:cNvPr>
          <p:cNvSpPr/>
          <p:nvPr/>
        </p:nvSpPr>
        <p:spPr>
          <a:xfrm>
            <a:off x="208648" y="4837362"/>
            <a:ext cx="2271843" cy="325363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4. Submission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C8B0CA-2ACF-61AC-49B7-679D9308C0E1}"/>
              </a:ext>
            </a:extLst>
          </p:cNvPr>
          <p:cNvSpPr txBox="1"/>
          <p:nvPr/>
        </p:nvSpPr>
        <p:spPr>
          <a:xfrm>
            <a:off x="208647" y="1361047"/>
            <a:ext cx="5593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10 training materials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Lots of long B(t)-H(t) pairs in full sequence length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Temperature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D6E641-32CD-F2B1-B1E0-FA8C268E19CC}"/>
              </a:ext>
            </a:extLst>
          </p:cNvPr>
          <p:cNvSpPr txBox="1"/>
          <p:nvPr/>
        </p:nvSpPr>
        <p:spPr>
          <a:xfrm>
            <a:off x="181812" y="2657823"/>
            <a:ext cx="64701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Random segments provided within the 10 materials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highlight>
                  <a:srgbClr val="FFFF00"/>
                </a:highlight>
                <a:latin typeface="+mj-lt"/>
                <a:cs typeface="Arial" panose="020B0604020202020204" pitchFamily="34" charset="0"/>
              </a:rPr>
              <a:t>Team self Report results given the evaluation rules for N87 and 3C90 materials for all 3 data splitting scenarios 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Result template posted online (</a:t>
            </a:r>
            <a:r>
              <a:rPr lang="en-US" sz="1600" dirty="0" err="1">
                <a:latin typeface="+mj-lt"/>
                <a:cs typeface="Arial" panose="020B0604020202020204" pitchFamily="34" charset="0"/>
              </a:rPr>
              <a:t>Pre_Evaluation_Results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6BAE0-DA3E-D52E-B742-705B0D5A9018}"/>
              </a:ext>
            </a:extLst>
          </p:cNvPr>
          <p:cNvSpPr txBox="1"/>
          <p:nvPr/>
        </p:nvSpPr>
        <p:spPr>
          <a:xfrm>
            <a:off x="181812" y="4114792"/>
            <a:ext cx="5875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November 15</a:t>
            </a:r>
            <a:r>
              <a:rPr lang="en-US" sz="1600" baseline="30000" dirty="0">
                <a:latin typeface="+mj-lt"/>
                <a:cs typeface="Arial" panose="020B0604020202020204" pitchFamily="34" charset="0"/>
              </a:rPr>
              <a:t>th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: Pre-Evaluation submission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5 unknown materials partial training data provided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99D930-688A-849A-2FA2-5460B7880731}"/>
              </a:ext>
            </a:extLst>
          </p:cNvPr>
          <p:cNvSpPr txBox="1"/>
          <p:nvPr/>
        </p:nvSpPr>
        <p:spPr>
          <a:xfrm>
            <a:off x="208647" y="5227198"/>
            <a:ext cx="6443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January 15</a:t>
            </a:r>
            <a:r>
              <a:rPr lang="en-US" sz="1600" baseline="30000" dirty="0">
                <a:latin typeface="+mj-lt"/>
                <a:cs typeface="Arial" panose="020B0604020202020204" pitchFamily="34" charset="0"/>
              </a:rPr>
              <a:t>th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: Final model submission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Final test segments provided to perform final evaluation</a:t>
            </a:r>
          </a:p>
        </p:txBody>
      </p:sp>
    </p:spTree>
    <p:extLst>
      <p:ext uri="{BB962C8B-B14F-4D97-AF65-F5344CB8AC3E}">
        <p14:creationId xmlns:p14="http://schemas.microsoft.com/office/powerpoint/2010/main" val="8442573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PELS-IEEE">
  <a:themeElements>
    <a:clrScheme name="Custom 3">
      <a:dk1>
        <a:srgbClr val="000000"/>
      </a:dk1>
      <a:lt1>
        <a:srgbClr val="FFFFFF"/>
      </a:lt1>
      <a:dk2>
        <a:srgbClr val="005582"/>
      </a:dk2>
      <a:lt2>
        <a:srgbClr val="808080"/>
      </a:lt2>
      <a:accent1>
        <a:srgbClr val="DC5D26"/>
      </a:accent1>
      <a:accent2>
        <a:srgbClr val="52A93A"/>
      </a:accent2>
      <a:accent3>
        <a:srgbClr val="FFFFFF"/>
      </a:accent3>
      <a:accent4>
        <a:srgbClr val="000000"/>
      </a:accent4>
      <a:accent5>
        <a:srgbClr val="6C0521"/>
      </a:accent5>
      <a:accent6>
        <a:srgbClr val="477E27"/>
      </a:accent6>
      <a:hlink>
        <a:srgbClr val="0080FF"/>
      </a:hlink>
      <a:folHlink>
        <a:srgbClr val="481861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8" charset="0"/>
            <a:ea typeface="ＭＳ Ｐゴシック" pitchFamily="28" charset="-128"/>
            <a:cs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28" charset="0"/>
            <a:ea typeface="ＭＳ Ｐゴシック" pitchFamily="28" charset="-128"/>
            <a:cs typeface="ＭＳ Ｐゴシック" pitchFamily="28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3">
        <a:dk1>
          <a:srgbClr val="000000"/>
        </a:dk1>
        <a:lt1>
          <a:srgbClr val="FFFFFF"/>
        </a:lt1>
        <a:dk2>
          <a:srgbClr val="0F3D88"/>
        </a:dk2>
        <a:lt2>
          <a:srgbClr val="808080"/>
        </a:lt2>
        <a:accent1>
          <a:srgbClr val="FF8000"/>
        </a:accent1>
        <a:accent2>
          <a:srgbClr val="59B308"/>
        </a:accent2>
        <a:accent3>
          <a:srgbClr val="FFFFFF"/>
        </a:accent3>
        <a:accent4>
          <a:srgbClr val="000000"/>
        </a:accent4>
        <a:accent5>
          <a:srgbClr val="FFC0AA"/>
        </a:accent5>
        <a:accent6>
          <a:srgbClr val="50A206"/>
        </a:accent6>
        <a:hlink>
          <a:srgbClr val="008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fad38e-42d4-4be1-98f7-bde5e03740b5" xsi:nil="true"/>
    <lcf76f155ced4ddcb4097134ff3c332f xmlns="1a928159-cc29-4254-b403-af2e2d15dfc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95DD7CE5A5148B4999BBA8EA5DD30" ma:contentTypeVersion="16" ma:contentTypeDescription="Ein neues Dokument erstellen." ma:contentTypeScope="" ma:versionID="eb240631e2210ba105a10b867f352f4b">
  <xsd:schema xmlns:xsd="http://www.w3.org/2001/XMLSchema" xmlns:xs="http://www.w3.org/2001/XMLSchema" xmlns:p="http://schemas.microsoft.com/office/2006/metadata/properties" xmlns:ns2="1a928159-cc29-4254-b403-af2e2d15dfc1" xmlns:ns3="5afad38e-42d4-4be1-98f7-bde5e03740b5" targetNamespace="http://schemas.microsoft.com/office/2006/metadata/properties" ma:root="true" ma:fieldsID="fcdff8057539b4026699d937d20d54f0" ns2:_="" ns3:_="">
    <xsd:import namespace="1a928159-cc29-4254-b403-af2e2d15dfc1"/>
    <xsd:import namespace="5afad38e-42d4-4be1-98f7-bde5e0374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928159-cc29-4254-b403-af2e2d15d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73f45ee-26db-4ad3-8cda-2acaef1af0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fad38e-42d4-4be1-98f7-bde5e03740b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beb16a8-fc89-4df2-9117-3e02cee7badb}" ma:internalName="TaxCatchAll" ma:showField="CatchAllData" ma:web="5afad38e-42d4-4be1-98f7-bde5e0374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AC8A23-D54A-4323-86F7-4F36A5E306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8C547-5CD2-4A80-9627-5BF16A51EA8F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5afad38e-42d4-4be1-98f7-bde5e03740b5"/>
    <ds:schemaRef ds:uri="1a928159-cc29-4254-b403-af2e2d15dfc1"/>
  </ds:schemaRefs>
</ds:datastoreItem>
</file>

<file path=customXml/itemProps3.xml><?xml version="1.0" encoding="utf-8"?>
<ds:datastoreItem xmlns:ds="http://schemas.openxmlformats.org/officeDocument/2006/customXml" ds:itemID="{0E5FA02A-C873-44FD-A945-6534AC5C7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928159-cc29-4254-b403-af2e2d15dfc1"/>
    <ds:schemaRef ds:uri="5afad38e-42d4-4be1-98f7-bde5e0374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PELS-IEEE</Template>
  <TotalTime>31335</TotalTime>
  <Words>833</Words>
  <Application>Microsoft Office PowerPoint</Application>
  <PresentationFormat>On-screen Show (4:3)</PresentationFormat>
  <Paragraphs>259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Symbol</vt:lpstr>
      <vt:lpstr>Verdana</vt:lpstr>
      <vt:lpstr>Wingdings</vt:lpstr>
      <vt:lpstr>PELS-IEEE</vt:lpstr>
      <vt:lpstr>2nd IEEE International Challenge in Design Methods for Power Electronics  2025 IEEE Power Electronics Society  MagNet Challenge 2  “From Steady-State to Transient Models!”   </vt:lpstr>
      <vt:lpstr>Agenda</vt:lpstr>
      <vt:lpstr>Outcome: A Callable Prediction Function</vt:lpstr>
      <vt:lpstr>Pre Evaluation Data Format</vt:lpstr>
      <vt:lpstr>Evaluation Criteria</vt:lpstr>
      <vt:lpstr>Data Provided</vt:lpstr>
      <vt:lpstr>Model Inference</vt:lpstr>
      <vt:lpstr>Histogram</vt:lpstr>
      <vt:lpstr>Conclusion</vt:lpstr>
    </vt:vector>
  </TitlesOfParts>
  <Company>Virginia Tech - CPES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IEEE Power Electronics Society Status and Outlook</dc:title>
  <dc:creator>Dushan Boroyevich</dc:creator>
  <cp:lastModifiedBy>Shukai Wang</cp:lastModifiedBy>
  <cp:revision>1258</cp:revision>
  <dcterms:created xsi:type="dcterms:W3CDTF">2011-03-01T17:55:22Z</dcterms:created>
  <dcterms:modified xsi:type="dcterms:W3CDTF">2025-09-12T15:06:39Z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0x01010015595DD7CE5A5148B4999BBA8EA5DD30</vt:lpwstr>
  </property>
  <property fmtid="{D5CDD505-2E9C-101B-9397-08002B2CF9AE}" pid="3" name="MediaServiceImageTags">
    <vt:lpwstr/>
  </property>
</Properties>
</file>